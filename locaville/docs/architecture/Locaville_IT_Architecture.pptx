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284" r:id="rId3"/>
    <p:sldId id="271" r:id="rId4"/>
    <p:sldId id="279" r:id="rId5"/>
    <p:sldId id="281" r:id="rId6"/>
    <p:sldId id="283" r:id="rId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284"/>
            <p14:sldId id="271"/>
            <p14:sldId id="279"/>
            <p14:sldId id="281"/>
            <p14:sldId id="283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D24726"/>
    <a:srgbClr val="404040"/>
    <a:srgbClr val="FF9B45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41" autoAdjust="0"/>
  </p:normalViewPr>
  <p:slideViewPr>
    <p:cSldViewPr snapToGrid="0">
      <p:cViewPr varScale="1">
        <p:scale>
          <a:sx n="103" d="100"/>
          <a:sy n="103" d="100"/>
        </p:scale>
        <p:origin x="138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2026-06-19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2026-06-19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476FF-5ED8-E061-5B33-CD7FCBE1D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3C14E7-1CA9-52BB-B17F-179831601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69590D-3ADF-4FA4-27E0-AD7687771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757A70-8103-E1E6-0093-4B41D8574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2378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954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419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75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7F71A-9B68-C135-0F4A-9EDB85E5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F6DD26-3856-3A74-1C3E-80E5BC7A1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4DDA7E-CA50-00D8-9976-D03A2A763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01112C-ECE6-4129-E190-2E3C40FE8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0387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 b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8A05DDD-DBD6-4880-90DB-80726A170D63}" type="datetime1">
              <a:rPr lang="ko-KR" altLang="en-US" noProof="0" smtClean="0"/>
              <a:t>2026-06-19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C48B989-0AC6-43D9-95B5-DB76B2CC2531}" type="datetime1">
              <a:rPr lang="ko-KR" altLang="en-US" noProof="0" smtClean="0"/>
              <a:t>2026-06-19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b="1" dirty="0" err="1">
                <a:solidFill>
                  <a:schemeClr val="bg1"/>
                </a:solidFill>
              </a:rPr>
              <a:t>Locaville</a:t>
            </a:r>
            <a:r>
              <a:rPr lang="ko-KR" altLang="en-US" sz="4800" b="1" dirty="0">
                <a:solidFill>
                  <a:schemeClr val="bg1"/>
                </a:solidFill>
              </a:rPr>
              <a:t> </a:t>
            </a:r>
            <a:r>
              <a:rPr lang="en-US" altLang="ko-KR" sz="4800" b="1" dirty="0">
                <a:solidFill>
                  <a:schemeClr val="bg1"/>
                </a:solidFill>
              </a:rPr>
              <a:t>IT</a:t>
            </a:r>
            <a:r>
              <a:rPr lang="ko-KR" altLang="en-US" sz="4800" b="1" dirty="0">
                <a:solidFill>
                  <a:schemeClr val="bg1"/>
                </a:solidFill>
              </a:rPr>
              <a:t> </a:t>
            </a:r>
            <a:r>
              <a:rPr lang="en-US" altLang="ko-KR" sz="4800" b="1" dirty="0">
                <a:solidFill>
                  <a:schemeClr val="bg1"/>
                </a:solidFill>
              </a:rPr>
              <a:t>Architecture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4237-AF0D-1BD4-C214-5C228282A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E62DF37-93FF-48D7-C8EF-FA9A97932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Business Flow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C44AD89-7B7B-64CC-AF87-D5C368653123}"/>
              </a:ext>
            </a:extLst>
          </p:cNvPr>
          <p:cNvCxnSpPr>
            <a:cxnSpLocks/>
          </p:cNvCxnSpPr>
          <p:nvPr/>
        </p:nvCxnSpPr>
        <p:spPr>
          <a:xfrm>
            <a:off x="867746" y="2744887"/>
            <a:ext cx="10347649" cy="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3642361-4753-07A8-FFAC-8A2CF3A52273}"/>
              </a:ext>
            </a:extLst>
          </p:cNvPr>
          <p:cNvCxnSpPr>
            <a:cxnSpLocks/>
          </p:cNvCxnSpPr>
          <p:nvPr/>
        </p:nvCxnSpPr>
        <p:spPr>
          <a:xfrm>
            <a:off x="867746" y="4534274"/>
            <a:ext cx="10347649" cy="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03A05DA1-BA71-767D-8E4F-386F6CEEA00B}"/>
              </a:ext>
            </a:extLst>
          </p:cNvPr>
          <p:cNvSpPr/>
          <p:nvPr/>
        </p:nvSpPr>
        <p:spPr>
          <a:xfrm>
            <a:off x="961053" y="1581648"/>
            <a:ext cx="1152000" cy="72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rgbClr val="002060"/>
                </a:solidFill>
              </a:rPr>
              <a:t>운영자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1152AFC-5B19-767C-C53D-DD221D936928}"/>
              </a:ext>
            </a:extLst>
          </p:cNvPr>
          <p:cNvSpPr/>
          <p:nvPr/>
        </p:nvSpPr>
        <p:spPr>
          <a:xfrm>
            <a:off x="961053" y="3276346"/>
            <a:ext cx="1152000" cy="72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rgbClr val="002060"/>
                </a:solidFill>
              </a:rPr>
              <a:t>이장</a:t>
            </a:r>
            <a:r>
              <a:rPr lang="en-US" altLang="ko-KR" b="1" dirty="0">
                <a:solidFill>
                  <a:srgbClr val="002060"/>
                </a:solidFill>
              </a:rPr>
              <a:t>/</a:t>
            </a:r>
            <a:r>
              <a:rPr lang="ko-KR" altLang="en-US" b="1" dirty="0">
                <a:solidFill>
                  <a:srgbClr val="002060"/>
                </a:solidFill>
              </a:rPr>
              <a:t>단체장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3A4633B-3C96-C894-68DD-D1FFA7ACC77C}"/>
              </a:ext>
            </a:extLst>
          </p:cNvPr>
          <p:cNvSpPr/>
          <p:nvPr/>
        </p:nvSpPr>
        <p:spPr>
          <a:xfrm>
            <a:off x="961053" y="5049261"/>
            <a:ext cx="1152000" cy="72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002060"/>
                </a:solidFill>
              </a:rPr>
              <a:t>농민</a:t>
            </a:r>
          </a:p>
        </p:txBody>
      </p: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32335828-F3DB-933D-8DF6-7C69EB15CCDA}"/>
              </a:ext>
            </a:extLst>
          </p:cNvPr>
          <p:cNvSpPr/>
          <p:nvPr/>
        </p:nvSpPr>
        <p:spPr>
          <a:xfrm>
            <a:off x="6655814" y="1581649"/>
            <a:ext cx="1152000" cy="719999"/>
          </a:xfrm>
          <a:prstGeom prst="flowChartProcess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/>
              <a:t>사업등록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7E62CE0-31D2-CE26-0C6C-7CB64E350DD2}"/>
              </a:ext>
            </a:extLst>
          </p:cNvPr>
          <p:cNvCxnSpPr>
            <a:cxnSpLocks/>
            <a:stCxn id="77" idx="4"/>
            <a:endCxn id="25" idx="1"/>
          </p:cNvCxnSpPr>
          <p:nvPr/>
        </p:nvCxnSpPr>
        <p:spPr>
          <a:xfrm>
            <a:off x="5775045" y="1941649"/>
            <a:ext cx="88076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A3EF147D-BDC1-8999-869E-84EC5502437D}"/>
              </a:ext>
            </a:extLst>
          </p:cNvPr>
          <p:cNvSpPr/>
          <p:nvPr/>
        </p:nvSpPr>
        <p:spPr>
          <a:xfrm>
            <a:off x="2691131" y="3276347"/>
            <a:ext cx="1152000" cy="719999"/>
          </a:xfrm>
          <a:prstGeom prst="flowChartProcess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/>
              <a:t>단체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37" name="순서도: 처리 36">
            <a:extLst>
              <a:ext uri="{FF2B5EF4-FFF2-40B4-BE49-F238E27FC236}">
                <a16:creationId xmlns:a16="http://schemas.microsoft.com/office/drawing/2014/main" id="{1813FE27-5FF9-CBDB-9F0E-AB6B201B3CCD}"/>
              </a:ext>
            </a:extLst>
          </p:cNvPr>
          <p:cNvSpPr/>
          <p:nvPr/>
        </p:nvSpPr>
        <p:spPr>
          <a:xfrm>
            <a:off x="4779167" y="3276347"/>
            <a:ext cx="1152000" cy="719999"/>
          </a:xfrm>
          <a:prstGeom prst="flowChartProcess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/>
              <a:t>사업참여</a:t>
            </a:r>
          </a:p>
        </p:txBody>
      </p:sp>
      <p:sp>
        <p:nvSpPr>
          <p:cNvPr id="41" name="순서도: 처리 40">
            <a:extLst>
              <a:ext uri="{FF2B5EF4-FFF2-40B4-BE49-F238E27FC236}">
                <a16:creationId xmlns:a16="http://schemas.microsoft.com/office/drawing/2014/main" id="{4A776305-2C70-2433-CD38-E143F84CD57A}"/>
              </a:ext>
            </a:extLst>
          </p:cNvPr>
          <p:cNvSpPr/>
          <p:nvPr/>
        </p:nvSpPr>
        <p:spPr>
          <a:xfrm>
            <a:off x="4779167" y="5049262"/>
            <a:ext cx="1152000" cy="719999"/>
          </a:xfrm>
          <a:prstGeom prst="flowChartProcess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/>
              <a:t>활동참여</a:t>
            </a:r>
          </a:p>
        </p:txBody>
      </p:sp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A77B840A-2DF4-26E3-2A42-BDCECA7768D2}"/>
              </a:ext>
            </a:extLst>
          </p:cNvPr>
          <p:cNvSpPr/>
          <p:nvPr/>
        </p:nvSpPr>
        <p:spPr>
          <a:xfrm>
            <a:off x="2691131" y="5049262"/>
            <a:ext cx="1152000" cy="719999"/>
          </a:xfrm>
          <a:prstGeom prst="flowChartProcess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/>
              <a:t>단체가입</a:t>
            </a:r>
          </a:p>
        </p:txBody>
      </p:sp>
      <p:sp>
        <p:nvSpPr>
          <p:cNvPr id="44" name="순서도: 처리 43">
            <a:extLst>
              <a:ext uri="{FF2B5EF4-FFF2-40B4-BE49-F238E27FC236}">
                <a16:creationId xmlns:a16="http://schemas.microsoft.com/office/drawing/2014/main" id="{6F2FE7EE-77D4-27E2-6C2A-1759E4229B14}"/>
              </a:ext>
            </a:extLst>
          </p:cNvPr>
          <p:cNvSpPr/>
          <p:nvPr/>
        </p:nvSpPr>
        <p:spPr>
          <a:xfrm>
            <a:off x="8655571" y="5049262"/>
            <a:ext cx="1440000" cy="719999"/>
          </a:xfrm>
          <a:prstGeom prst="flowChartProcess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/>
              <a:t>영농일지 작성</a:t>
            </a:r>
            <a:endParaRPr lang="en-US" altLang="ko-KR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1C3087-4DA6-02AD-8554-9D72C8FF89CB}"/>
              </a:ext>
            </a:extLst>
          </p:cNvPr>
          <p:cNvSpPr txBox="1"/>
          <p:nvPr/>
        </p:nvSpPr>
        <p:spPr>
          <a:xfrm>
            <a:off x="5025910" y="1756982"/>
            <a:ext cx="65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/>
              <a:t>RAG</a:t>
            </a:r>
            <a:endParaRPr lang="ko-KR" altLang="en-US" b="1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EFBC92A-856C-18CD-B645-CB1CC3BD82EE}"/>
              </a:ext>
            </a:extLst>
          </p:cNvPr>
          <p:cNvCxnSpPr>
            <a:cxnSpLocks/>
          </p:cNvCxnSpPr>
          <p:nvPr/>
        </p:nvCxnSpPr>
        <p:spPr>
          <a:xfrm>
            <a:off x="3843131" y="3636346"/>
            <a:ext cx="9360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D337AC3-3957-1D90-BF5C-DB7A69E433A1}"/>
              </a:ext>
            </a:extLst>
          </p:cNvPr>
          <p:cNvCxnSpPr>
            <a:cxnSpLocks/>
            <a:stCxn id="103" idx="3"/>
            <a:endCxn id="44" idx="1"/>
          </p:cNvCxnSpPr>
          <p:nvPr/>
        </p:nvCxnSpPr>
        <p:spPr>
          <a:xfrm>
            <a:off x="8056158" y="5409262"/>
            <a:ext cx="5994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DA4A1E38-D4AD-1AF5-E115-C8AEACC54357}"/>
              </a:ext>
            </a:extLst>
          </p:cNvPr>
          <p:cNvCxnSpPr>
            <a:cxnSpLocks/>
          </p:cNvCxnSpPr>
          <p:nvPr/>
        </p:nvCxnSpPr>
        <p:spPr>
          <a:xfrm>
            <a:off x="3843131" y="5409261"/>
            <a:ext cx="9360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CC85005-C441-85B2-96C8-F4B6CDD15E74}"/>
              </a:ext>
            </a:extLst>
          </p:cNvPr>
          <p:cNvCxnSpPr>
            <a:cxnSpLocks/>
            <a:stCxn id="41" idx="3"/>
            <a:endCxn id="103" idx="1"/>
          </p:cNvCxnSpPr>
          <p:nvPr/>
        </p:nvCxnSpPr>
        <p:spPr>
          <a:xfrm>
            <a:off x="5931167" y="5409262"/>
            <a:ext cx="10743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순서도: 다중 문서 75">
            <a:extLst>
              <a:ext uri="{FF2B5EF4-FFF2-40B4-BE49-F238E27FC236}">
                <a16:creationId xmlns:a16="http://schemas.microsoft.com/office/drawing/2014/main" id="{367F661A-38E2-75CB-1F98-E505EB70305A}"/>
              </a:ext>
            </a:extLst>
          </p:cNvPr>
          <p:cNvSpPr/>
          <p:nvPr/>
        </p:nvSpPr>
        <p:spPr>
          <a:xfrm>
            <a:off x="2691131" y="1451326"/>
            <a:ext cx="1136004" cy="980645"/>
          </a:xfrm>
          <a:prstGeom prst="flowChartMultidocumen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사업공고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시행지침</a:t>
            </a:r>
          </a:p>
        </p:txBody>
      </p:sp>
      <p:sp>
        <p:nvSpPr>
          <p:cNvPr id="77" name="원통형 76">
            <a:extLst>
              <a:ext uri="{FF2B5EF4-FFF2-40B4-BE49-F238E27FC236}">
                <a16:creationId xmlns:a16="http://schemas.microsoft.com/office/drawing/2014/main" id="{7C1D0F70-3D3D-4C6A-1C52-3B1A71570BCB}"/>
              </a:ext>
            </a:extLst>
          </p:cNvPr>
          <p:cNvSpPr/>
          <p:nvPr/>
        </p:nvSpPr>
        <p:spPr>
          <a:xfrm>
            <a:off x="4935290" y="1555453"/>
            <a:ext cx="839755" cy="772391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RAG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74CBBA8-5289-F13A-98FA-F24D2767CB24}"/>
              </a:ext>
            </a:extLst>
          </p:cNvPr>
          <p:cNvCxnSpPr>
            <a:cxnSpLocks/>
          </p:cNvCxnSpPr>
          <p:nvPr/>
        </p:nvCxnSpPr>
        <p:spPr>
          <a:xfrm>
            <a:off x="3827135" y="1938570"/>
            <a:ext cx="11081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8DFF211F-83AA-CCDA-FD7C-17C8E4F48293}"/>
              </a:ext>
            </a:extLst>
          </p:cNvPr>
          <p:cNvGrpSpPr/>
          <p:nvPr/>
        </p:nvGrpSpPr>
        <p:grpSpPr>
          <a:xfrm>
            <a:off x="8491497" y="1414574"/>
            <a:ext cx="1054148" cy="1054148"/>
            <a:chOff x="8491497" y="1414574"/>
            <a:chExt cx="1054148" cy="1054148"/>
          </a:xfrm>
        </p:grpSpPr>
        <p:pic>
          <p:nvPicPr>
            <p:cNvPr id="91" name="그래픽 90" descr="클립보드 단색으로 채워진">
              <a:extLst>
                <a:ext uri="{FF2B5EF4-FFF2-40B4-BE49-F238E27FC236}">
                  <a16:creationId xmlns:a16="http://schemas.microsoft.com/office/drawing/2014/main" id="{9515CB35-AB9C-62F3-6BCC-FBAF081AFA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91497" y="1414574"/>
              <a:ext cx="1054148" cy="1054148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CFE3D34-7857-32B2-C56D-29E1A5E9A757}"/>
                </a:ext>
              </a:extLst>
            </p:cNvPr>
            <p:cNvSpPr txBox="1"/>
            <p:nvPr/>
          </p:nvSpPr>
          <p:spPr>
            <a:xfrm>
              <a:off x="8595378" y="1803149"/>
              <a:ext cx="846386" cy="276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/>
                <a:t>작업목록</a:t>
              </a:r>
            </a:p>
          </p:txBody>
        </p:sp>
      </p:grp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2102C32D-4AA2-0C72-6A28-4C0562A6CE09}"/>
              </a:ext>
            </a:extLst>
          </p:cNvPr>
          <p:cNvCxnSpPr>
            <a:cxnSpLocks/>
            <a:stCxn id="25" idx="3"/>
            <a:endCxn id="92" idx="1"/>
          </p:cNvCxnSpPr>
          <p:nvPr/>
        </p:nvCxnSpPr>
        <p:spPr>
          <a:xfrm>
            <a:off x="7807814" y="1941649"/>
            <a:ext cx="78756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7C7121DA-FF59-F55A-4BC8-A8F352B937CB}"/>
              </a:ext>
            </a:extLst>
          </p:cNvPr>
          <p:cNvGrpSpPr/>
          <p:nvPr/>
        </p:nvGrpSpPr>
        <p:grpSpPr>
          <a:xfrm>
            <a:off x="7003749" y="4882187"/>
            <a:ext cx="1054148" cy="1054148"/>
            <a:chOff x="7003749" y="4844863"/>
            <a:chExt cx="1054148" cy="1054148"/>
          </a:xfrm>
        </p:grpSpPr>
        <p:pic>
          <p:nvPicPr>
            <p:cNvPr id="102" name="그래픽 101" descr="클립보드 단색으로 채워진">
              <a:extLst>
                <a:ext uri="{FF2B5EF4-FFF2-40B4-BE49-F238E27FC236}">
                  <a16:creationId xmlns:a16="http://schemas.microsoft.com/office/drawing/2014/main" id="{7BD0EFCF-FD33-A866-6D83-78C9A13BFA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03749" y="4844863"/>
              <a:ext cx="1054148" cy="1054148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0A52D49-C6E9-0FE2-3D1F-E3933649180D}"/>
                </a:ext>
              </a:extLst>
            </p:cNvPr>
            <p:cNvSpPr txBox="1"/>
            <p:nvPr/>
          </p:nvSpPr>
          <p:spPr>
            <a:xfrm>
              <a:off x="7005494" y="5233438"/>
              <a:ext cx="1050664" cy="276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lIns="36000" tIns="0" rIns="36000" bIns="0" rtlCol="0">
              <a:spAutoFit/>
            </a:bodyPr>
            <a:lstStyle/>
            <a:p>
              <a:pPr algn="ctr"/>
              <a:r>
                <a:rPr lang="en-US" altLang="ko-KR" b="1" dirty="0"/>
                <a:t>Todo List</a:t>
              </a:r>
              <a:endParaRPr lang="ko-KR" altLang="en-US" b="1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72CC2354-E858-4A22-9ABF-B9E625E67969}"/>
              </a:ext>
            </a:extLst>
          </p:cNvPr>
          <p:cNvGrpSpPr/>
          <p:nvPr/>
        </p:nvGrpSpPr>
        <p:grpSpPr>
          <a:xfrm>
            <a:off x="10575156" y="4952636"/>
            <a:ext cx="914400" cy="1077157"/>
            <a:chOff x="10621811" y="4936917"/>
            <a:chExt cx="914400" cy="1077157"/>
          </a:xfrm>
        </p:grpSpPr>
        <p:pic>
          <p:nvPicPr>
            <p:cNvPr id="118" name="그래픽 117" descr="카메라 단색으로 채워진">
              <a:extLst>
                <a:ext uri="{FF2B5EF4-FFF2-40B4-BE49-F238E27FC236}">
                  <a16:creationId xmlns:a16="http://schemas.microsoft.com/office/drawing/2014/main" id="{AFA1C21A-F351-A736-13BD-5343ED68F1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621811" y="4936917"/>
              <a:ext cx="914400" cy="914400"/>
            </a:xfrm>
            <a:prstGeom prst="rect">
              <a:avLst/>
            </a:prstGeom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094FD1D-01DC-B7E7-2992-A974027D96C9}"/>
                </a:ext>
              </a:extLst>
            </p:cNvPr>
            <p:cNvSpPr txBox="1"/>
            <p:nvPr/>
          </p:nvSpPr>
          <p:spPr>
            <a:xfrm>
              <a:off x="10867414" y="5737075"/>
              <a:ext cx="423194" cy="276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/>
                <a:t>증빙</a:t>
              </a:r>
            </a:p>
          </p:txBody>
        </p:sp>
      </p:grp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F5058876-B193-4945-6DEC-52BA92CDE7C9}"/>
              </a:ext>
            </a:extLst>
          </p:cNvPr>
          <p:cNvCxnSpPr>
            <a:cxnSpLocks/>
            <a:stCxn id="44" idx="3"/>
            <a:endCxn id="118" idx="1"/>
          </p:cNvCxnSpPr>
          <p:nvPr/>
        </p:nvCxnSpPr>
        <p:spPr>
          <a:xfrm>
            <a:off x="10095571" y="5409262"/>
            <a:ext cx="479585" cy="5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5A6CAE1D-2802-AF0C-0779-A5CCAB81D55D}"/>
              </a:ext>
            </a:extLst>
          </p:cNvPr>
          <p:cNvCxnSpPr>
            <a:cxnSpLocks/>
            <a:stCxn id="25" idx="2"/>
            <a:endCxn id="37" idx="3"/>
          </p:cNvCxnSpPr>
          <p:nvPr/>
        </p:nvCxnSpPr>
        <p:spPr>
          <a:xfrm rot="5400000">
            <a:off x="5914142" y="2318674"/>
            <a:ext cx="1334699" cy="1300647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5305CFD1-18E8-EC70-B479-A60B8380429C}"/>
              </a:ext>
            </a:extLst>
          </p:cNvPr>
          <p:cNvCxnSpPr>
            <a:cxnSpLocks/>
          </p:cNvCxnSpPr>
          <p:nvPr/>
        </p:nvCxnSpPr>
        <p:spPr>
          <a:xfrm>
            <a:off x="5355167" y="4028617"/>
            <a:ext cx="0" cy="101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4C2A870A-0F2D-A3B6-A1E8-D60CB4ED7A01}"/>
              </a:ext>
            </a:extLst>
          </p:cNvPr>
          <p:cNvCxnSpPr>
            <a:cxnSpLocks/>
            <a:stCxn id="91" idx="2"/>
            <a:endCxn id="102" idx="0"/>
          </p:cNvCxnSpPr>
          <p:nvPr/>
        </p:nvCxnSpPr>
        <p:spPr>
          <a:xfrm rot="5400000">
            <a:off x="7067965" y="2931580"/>
            <a:ext cx="2413465" cy="1487748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64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원통형 228">
            <a:extLst>
              <a:ext uri="{FF2B5EF4-FFF2-40B4-BE49-F238E27FC236}">
                <a16:creationId xmlns:a16="http://schemas.microsoft.com/office/drawing/2014/main" id="{C00811D4-79C5-0E8C-2FEC-CD2AE159E5B4}"/>
              </a:ext>
            </a:extLst>
          </p:cNvPr>
          <p:cNvSpPr/>
          <p:nvPr/>
        </p:nvSpPr>
        <p:spPr>
          <a:xfrm>
            <a:off x="2432184" y="4171437"/>
            <a:ext cx="2852054" cy="1767422"/>
          </a:xfrm>
          <a:prstGeom prst="can">
            <a:avLst>
              <a:gd name="adj" fmla="val 1464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원통형 9">
            <a:extLst>
              <a:ext uri="{FF2B5EF4-FFF2-40B4-BE49-F238E27FC236}">
                <a16:creationId xmlns:a16="http://schemas.microsoft.com/office/drawing/2014/main" id="{7A9DEBC9-9DB8-FC25-190F-38D3542B9347}"/>
              </a:ext>
            </a:extLst>
          </p:cNvPr>
          <p:cNvSpPr/>
          <p:nvPr/>
        </p:nvSpPr>
        <p:spPr>
          <a:xfrm>
            <a:off x="1691252" y="1883387"/>
            <a:ext cx="1512000" cy="2088000"/>
          </a:xfrm>
          <a:prstGeom prst="can">
            <a:avLst>
              <a:gd name="adj" fmla="val 1670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원통형 10">
            <a:extLst>
              <a:ext uri="{FF2B5EF4-FFF2-40B4-BE49-F238E27FC236}">
                <a16:creationId xmlns:a16="http://schemas.microsoft.com/office/drawing/2014/main" id="{BDA10C93-5EF0-3811-651D-436964A48D69}"/>
              </a:ext>
            </a:extLst>
          </p:cNvPr>
          <p:cNvSpPr/>
          <p:nvPr/>
        </p:nvSpPr>
        <p:spPr>
          <a:xfrm>
            <a:off x="6696966" y="1883388"/>
            <a:ext cx="1512000" cy="2088000"/>
          </a:xfrm>
          <a:prstGeom prst="can">
            <a:avLst>
              <a:gd name="adj" fmla="val 1373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원통형 20">
            <a:extLst>
              <a:ext uri="{FF2B5EF4-FFF2-40B4-BE49-F238E27FC236}">
                <a16:creationId xmlns:a16="http://schemas.microsoft.com/office/drawing/2014/main" id="{1FF44211-EDE1-1931-E072-E3D5DCC60A03}"/>
              </a:ext>
            </a:extLst>
          </p:cNvPr>
          <p:cNvSpPr/>
          <p:nvPr/>
        </p:nvSpPr>
        <p:spPr>
          <a:xfrm>
            <a:off x="9446105" y="1883388"/>
            <a:ext cx="1512000" cy="2088000"/>
          </a:xfrm>
          <a:prstGeom prst="can">
            <a:avLst>
              <a:gd name="adj" fmla="val 1373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원통형 110">
            <a:extLst>
              <a:ext uri="{FF2B5EF4-FFF2-40B4-BE49-F238E27FC236}">
                <a16:creationId xmlns:a16="http://schemas.microsoft.com/office/drawing/2014/main" id="{E9699325-C903-8FE8-EDA3-D1FC9D5143D2}"/>
              </a:ext>
            </a:extLst>
          </p:cNvPr>
          <p:cNvSpPr/>
          <p:nvPr/>
        </p:nvSpPr>
        <p:spPr>
          <a:xfrm>
            <a:off x="4150742" y="1883388"/>
            <a:ext cx="1512000" cy="2088000"/>
          </a:xfrm>
          <a:prstGeom prst="can">
            <a:avLst>
              <a:gd name="adj" fmla="val 1373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원통형 111">
            <a:extLst>
              <a:ext uri="{FF2B5EF4-FFF2-40B4-BE49-F238E27FC236}">
                <a16:creationId xmlns:a16="http://schemas.microsoft.com/office/drawing/2014/main" id="{CC65731B-1661-AB71-F7C1-EE7AB81DDA72}"/>
              </a:ext>
            </a:extLst>
          </p:cNvPr>
          <p:cNvSpPr/>
          <p:nvPr/>
        </p:nvSpPr>
        <p:spPr>
          <a:xfrm>
            <a:off x="6696966" y="4206511"/>
            <a:ext cx="1512000" cy="1512000"/>
          </a:xfrm>
          <a:prstGeom prst="can">
            <a:avLst>
              <a:gd name="adj" fmla="val 1373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원통형 70">
            <a:extLst>
              <a:ext uri="{FF2B5EF4-FFF2-40B4-BE49-F238E27FC236}">
                <a16:creationId xmlns:a16="http://schemas.microsoft.com/office/drawing/2014/main" id="{6C830B28-DADC-0D59-387A-629560DB018C}"/>
              </a:ext>
            </a:extLst>
          </p:cNvPr>
          <p:cNvSpPr/>
          <p:nvPr/>
        </p:nvSpPr>
        <p:spPr>
          <a:xfrm>
            <a:off x="9446105" y="4206511"/>
            <a:ext cx="1512000" cy="1512000"/>
          </a:xfrm>
          <a:prstGeom prst="can">
            <a:avLst>
              <a:gd name="adj" fmla="val 1373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Data Flow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EE742D-74CF-8AF4-8953-A3769161C3D6}"/>
              </a:ext>
            </a:extLst>
          </p:cNvPr>
          <p:cNvSpPr/>
          <p:nvPr/>
        </p:nvSpPr>
        <p:spPr>
          <a:xfrm>
            <a:off x="4330742" y="2228985"/>
            <a:ext cx="11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/>
              <a:t>프로젝트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A32D02-0EC5-DD5A-AFBD-83D234C22F0D}"/>
              </a:ext>
            </a:extLst>
          </p:cNvPr>
          <p:cNvSpPr/>
          <p:nvPr/>
        </p:nvSpPr>
        <p:spPr>
          <a:xfrm>
            <a:off x="4330742" y="2844474"/>
            <a:ext cx="11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/>
              <a:t>활동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AD02D6-DC1D-1277-004F-F85F284C8610}"/>
              </a:ext>
            </a:extLst>
          </p:cNvPr>
          <p:cNvSpPr/>
          <p:nvPr/>
        </p:nvSpPr>
        <p:spPr>
          <a:xfrm>
            <a:off x="4330742" y="3459963"/>
            <a:ext cx="11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/>
              <a:t>작업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8EFCBCD-B3FE-0B58-D5B3-AE29E7327C5D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4906742" y="2588985"/>
            <a:ext cx="0" cy="2554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8B4816F-766C-1BDF-1541-FD8537B82C3A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4906742" y="3204474"/>
            <a:ext cx="0" cy="2554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2932E23-E868-29FA-3625-1FCA5C15D965}"/>
              </a:ext>
            </a:extLst>
          </p:cNvPr>
          <p:cNvSpPr/>
          <p:nvPr/>
        </p:nvSpPr>
        <p:spPr>
          <a:xfrm>
            <a:off x="9626105" y="2228985"/>
            <a:ext cx="11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/>
              <a:t>마을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DE232F5-98AF-27AA-4A1F-48B7CA1765C5}"/>
              </a:ext>
            </a:extLst>
          </p:cNvPr>
          <p:cNvSpPr/>
          <p:nvPr/>
        </p:nvSpPr>
        <p:spPr>
          <a:xfrm>
            <a:off x="9626105" y="2844474"/>
            <a:ext cx="11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/>
              <a:t>마을단체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602DA2-2BC0-7E53-65BC-94F6CF261404}"/>
              </a:ext>
            </a:extLst>
          </p:cNvPr>
          <p:cNvSpPr/>
          <p:nvPr/>
        </p:nvSpPr>
        <p:spPr>
          <a:xfrm>
            <a:off x="9626105" y="3459963"/>
            <a:ext cx="11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/>
              <a:t>농가</a:t>
            </a:r>
            <a:r>
              <a:rPr lang="en-US" altLang="ko-KR" sz="1400" dirty="0"/>
              <a:t>/</a:t>
            </a:r>
            <a:r>
              <a:rPr lang="ko-KR" altLang="en-US" sz="1400" dirty="0"/>
              <a:t>농업인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7A1FE55-7A4F-DDC8-7EC1-E6E04F6E11AD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0202105" y="2490653"/>
            <a:ext cx="5856" cy="3538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9752C4E-D43E-5A60-D193-54A7F0F603DB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10202105" y="3204474"/>
            <a:ext cx="0" cy="2554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ED3A133-F714-64FF-D769-18ED28CC2299}"/>
              </a:ext>
            </a:extLst>
          </p:cNvPr>
          <p:cNvCxnSpPr>
            <a:cxnSpLocks/>
            <a:stCxn id="196" idx="3"/>
            <a:endCxn id="57" idx="1"/>
          </p:cNvCxnSpPr>
          <p:nvPr/>
        </p:nvCxnSpPr>
        <p:spPr>
          <a:xfrm>
            <a:off x="1221559" y="2780249"/>
            <a:ext cx="649693" cy="24422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BDD9ADB-316E-7C53-F5F1-4DBB467201CB}"/>
              </a:ext>
            </a:extLst>
          </p:cNvPr>
          <p:cNvCxnSpPr>
            <a:cxnSpLocks/>
            <a:stCxn id="197" idx="3"/>
            <a:endCxn id="57" idx="1"/>
          </p:cNvCxnSpPr>
          <p:nvPr/>
        </p:nvCxnSpPr>
        <p:spPr>
          <a:xfrm flipV="1">
            <a:off x="1221559" y="3024474"/>
            <a:ext cx="649693" cy="4421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AC2087F-A316-0173-63E6-74B39000E743}"/>
              </a:ext>
            </a:extLst>
          </p:cNvPr>
          <p:cNvCxnSpPr>
            <a:cxnSpLocks/>
            <a:stCxn id="208" idx="3"/>
            <a:endCxn id="12" idx="1"/>
          </p:cNvCxnSpPr>
          <p:nvPr/>
        </p:nvCxnSpPr>
        <p:spPr>
          <a:xfrm>
            <a:off x="3023252" y="2408985"/>
            <a:ext cx="130749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38B5364-D6F3-00F1-0BF8-5FEE01F03384}"/>
              </a:ext>
            </a:extLst>
          </p:cNvPr>
          <p:cNvSpPr/>
          <p:nvPr/>
        </p:nvSpPr>
        <p:spPr>
          <a:xfrm>
            <a:off x="6876966" y="2228985"/>
            <a:ext cx="11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/>
              <a:t>사업참여단체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F5EF944-A0E2-BAA3-F24B-7D106504A47D}"/>
              </a:ext>
            </a:extLst>
          </p:cNvPr>
          <p:cNvSpPr/>
          <p:nvPr/>
        </p:nvSpPr>
        <p:spPr>
          <a:xfrm>
            <a:off x="6876966" y="2844474"/>
            <a:ext cx="11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/>
              <a:t>활동별 참여자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606674-45FF-B8E0-6D99-2D470D66CBA8}"/>
              </a:ext>
            </a:extLst>
          </p:cNvPr>
          <p:cNvSpPr/>
          <p:nvPr/>
        </p:nvSpPr>
        <p:spPr>
          <a:xfrm>
            <a:off x="3411840" y="2808474"/>
            <a:ext cx="576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대상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농지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E8B88EA-5918-DAF3-AD3B-49A9CBAF66A7}"/>
              </a:ext>
            </a:extLst>
          </p:cNvPr>
          <p:cNvSpPr/>
          <p:nvPr/>
        </p:nvSpPr>
        <p:spPr>
          <a:xfrm>
            <a:off x="6876966" y="3459963"/>
            <a:ext cx="11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400" dirty="0"/>
              <a:t>Todo List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7FFB111-977F-F7F2-CD88-128EFBBA4C6A}"/>
              </a:ext>
            </a:extLst>
          </p:cNvPr>
          <p:cNvSpPr/>
          <p:nvPr/>
        </p:nvSpPr>
        <p:spPr>
          <a:xfrm>
            <a:off x="3411840" y="3413477"/>
            <a:ext cx="576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영농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작업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5AA1E9D-00B6-1851-98E0-EA013F83246D}"/>
              </a:ext>
            </a:extLst>
          </p:cNvPr>
          <p:cNvSpPr/>
          <p:nvPr/>
        </p:nvSpPr>
        <p:spPr>
          <a:xfrm>
            <a:off x="1871252" y="2844474"/>
            <a:ext cx="1152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RAG</a:t>
            </a:r>
            <a:r>
              <a:rPr lang="ko-KR" altLang="en-US" sz="1400" dirty="0">
                <a:solidFill>
                  <a:schemeClr val="tx1"/>
                </a:solidFill>
              </a:rPr>
              <a:t>파일</a:t>
            </a: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AF50EC37-9416-815C-D134-DBBA3FF488E6}"/>
              </a:ext>
            </a:extLst>
          </p:cNvPr>
          <p:cNvCxnSpPr>
            <a:cxnSpLocks/>
            <a:stCxn id="57" idx="0"/>
            <a:endCxn id="208" idx="2"/>
          </p:cNvCxnSpPr>
          <p:nvPr/>
        </p:nvCxnSpPr>
        <p:spPr>
          <a:xfrm flipV="1">
            <a:off x="2447252" y="2588985"/>
            <a:ext cx="0" cy="2554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6747AA53-64BB-9149-2EFD-1625F27EA3B3}"/>
              </a:ext>
            </a:extLst>
          </p:cNvPr>
          <p:cNvSpPr/>
          <p:nvPr/>
        </p:nvSpPr>
        <p:spPr>
          <a:xfrm>
            <a:off x="9626105" y="4532456"/>
            <a:ext cx="1152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사용자</a:t>
            </a: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F216CCBA-E603-268E-B386-56B2410E0DBB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2447252" y="3204474"/>
            <a:ext cx="0" cy="255489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86C798F0-777F-432D-DED7-1E7B37761909}"/>
              </a:ext>
            </a:extLst>
          </p:cNvPr>
          <p:cNvCxnSpPr>
            <a:cxnSpLocks/>
            <a:stCxn id="93" idx="0"/>
            <a:endCxn id="24" idx="2"/>
          </p:cNvCxnSpPr>
          <p:nvPr/>
        </p:nvCxnSpPr>
        <p:spPr>
          <a:xfrm flipV="1">
            <a:off x="10202105" y="3819963"/>
            <a:ext cx="0" cy="712493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B34D56B2-557A-5FF8-5DE0-9F5706AA534D}"/>
              </a:ext>
            </a:extLst>
          </p:cNvPr>
          <p:cNvSpPr/>
          <p:nvPr/>
        </p:nvSpPr>
        <p:spPr>
          <a:xfrm>
            <a:off x="11138105" y="3429000"/>
            <a:ext cx="576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소유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농지</a:t>
            </a: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CA1D00E-3046-702C-7531-5BB1864EE0BA}"/>
              </a:ext>
            </a:extLst>
          </p:cNvPr>
          <p:cNvCxnSpPr>
            <a:cxnSpLocks/>
            <a:endCxn id="114" idx="1"/>
          </p:cNvCxnSpPr>
          <p:nvPr/>
        </p:nvCxnSpPr>
        <p:spPr>
          <a:xfrm flipV="1">
            <a:off x="10778105" y="3645000"/>
            <a:ext cx="360000" cy="852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59C7784A-8633-CBB7-3EB2-1812D045BBBC}"/>
              </a:ext>
            </a:extLst>
          </p:cNvPr>
          <p:cNvSpPr/>
          <p:nvPr/>
        </p:nvSpPr>
        <p:spPr>
          <a:xfrm>
            <a:off x="6876966" y="4532456"/>
            <a:ext cx="11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/>
              <a:t>영농일지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E7CBEAE7-8FF2-064B-6959-0EAAE130EA7A}"/>
              </a:ext>
            </a:extLst>
          </p:cNvPr>
          <p:cNvSpPr/>
          <p:nvPr/>
        </p:nvSpPr>
        <p:spPr>
          <a:xfrm>
            <a:off x="6876966" y="5160554"/>
            <a:ext cx="11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/>
              <a:t>증빙</a:t>
            </a: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D1690597-3FBF-35A4-F875-08F7D75E09D9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7452966" y="2588985"/>
            <a:ext cx="0" cy="2554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5EB88522-E772-4D39-4FC2-11C5C873401B}"/>
              </a:ext>
            </a:extLst>
          </p:cNvPr>
          <p:cNvCxnSpPr>
            <a:cxnSpLocks/>
            <a:stCxn id="40" idx="2"/>
            <a:endCxn id="51" idx="0"/>
          </p:cNvCxnSpPr>
          <p:nvPr/>
        </p:nvCxnSpPr>
        <p:spPr>
          <a:xfrm>
            <a:off x="7452966" y="3204474"/>
            <a:ext cx="0" cy="2554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173DCE04-7C76-E241-D3E0-F82E69B07CAC}"/>
              </a:ext>
            </a:extLst>
          </p:cNvPr>
          <p:cNvCxnSpPr>
            <a:cxnSpLocks/>
            <a:stCxn id="51" idx="2"/>
            <a:endCxn id="130" idx="0"/>
          </p:cNvCxnSpPr>
          <p:nvPr/>
        </p:nvCxnSpPr>
        <p:spPr>
          <a:xfrm>
            <a:off x="7452966" y="3819963"/>
            <a:ext cx="0" cy="71249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420E9B3F-556E-30CF-1C48-C061B00DEC06}"/>
              </a:ext>
            </a:extLst>
          </p:cNvPr>
          <p:cNvCxnSpPr>
            <a:cxnSpLocks/>
            <a:stCxn id="130" idx="2"/>
            <a:endCxn id="131" idx="0"/>
          </p:cNvCxnSpPr>
          <p:nvPr/>
        </p:nvCxnSpPr>
        <p:spPr>
          <a:xfrm>
            <a:off x="7452966" y="4892456"/>
            <a:ext cx="0" cy="26809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FF14E36C-EADB-38D4-4B75-D1F8142EF5FA}"/>
              </a:ext>
            </a:extLst>
          </p:cNvPr>
          <p:cNvCxnSpPr>
            <a:cxnSpLocks/>
            <a:stCxn id="12" idx="3"/>
            <a:endCxn id="39" idx="1"/>
          </p:cNvCxnSpPr>
          <p:nvPr/>
        </p:nvCxnSpPr>
        <p:spPr>
          <a:xfrm>
            <a:off x="5482742" y="2408985"/>
            <a:ext cx="139422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51AEB558-AE36-FC61-C76C-736B7770092A}"/>
              </a:ext>
            </a:extLst>
          </p:cNvPr>
          <p:cNvCxnSpPr>
            <a:cxnSpLocks/>
            <a:stCxn id="13" idx="3"/>
            <a:endCxn id="40" idx="1"/>
          </p:cNvCxnSpPr>
          <p:nvPr/>
        </p:nvCxnSpPr>
        <p:spPr>
          <a:xfrm>
            <a:off x="5482742" y="3024474"/>
            <a:ext cx="139422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166A86EC-D6EF-9701-F66B-889730AB77D4}"/>
              </a:ext>
            </a:extLst>
          </p:cNvPr>
          <p:cNvCxnSpPr>
            <a:cxnSpLocks/>
            <a:stCxn id="14" idx="3"/>
            <a:endCxn id="51" idx="1"/>
          </p:cNvCxnSpPr>
          <p:nvPr/>
        </p:nvCxnSpPr>
        <p:spPr>
          <a:xfrm>
            <a:off x="5482742" y="3639963"/>
            <a:ext cx="139422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737CD97E-F344-8030-7459-16709A511F37}"/>
              </a:ext>
            </a:extLst>
          </p:cNvPr>
          <p:cNvCxnSpPr>
            <a:cxnSpLocks/>
            <a:stCxn id="23" idx="1"/>
            <a:endCxn id="39" idx="3"/>
          </p:cNvCxnSpPr>
          <p:nvPr/>
        </p:nvCxnSpPr>
        <p:spPr>
          <a:xfrm flipH="1" flipV="1">
            <a:off x="8028966" y="2408985"/>
            <a:ext cx="1597139" cy="6154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194083DF-468A-4FBF-F730-185276333988}"/>
              </a:ext>
            </a:extLst>
          </p:cNvPr>
          <p:cNvCxnSpPr>
            <a:cxnSpLocks/>
            <a:stCxn id="24" idx="1"/>
            <a:endCxn id="40" idx="3"/>
          </p:cNvCxnSpPr>
          <p:nvPr/>
        </p:nvCxnSpPr>
        <p:spPr>
          <a:xfrm flipH="1" flipV="1">
            <a:off x="8028966" y="3024474"/>
            <a:ext cx="1597139" cy="6154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521CB77A-4B48-FFCC-0160-A38CB59716B8}"/>
              </a:ext>
            </a:extLst>
          </p:cNvPr>
          <p:cNvCxnSpPr>
            <a:cxnSpLocks/>
            <a:stCxn id="24" idx="1"/>
            <a:endCxn id="130" idx="3"/>
          </p:cNvCxnSpPr>
          <p:nvPr/>
        </p:nvCxnSpPr>
        <p:spPr>
          <a:xfrm flipH="1">
            <a:off x="8028966" y="3639963"/>
            <a:ext cx="1597139" cy="1072493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078B0AEF-EC0A-EA50-B80C-B193300FEF4A}"/>
              </a:ext>
            </a:extLst>
          </p:cNvPr>
          <p:cNvSpPr/>
          <p:nvPr/>
        </p:nvSpPr>
        <p:spPr>
          <a:xfrm>
            <a:off x="9626105" y="5160554"/>
            <a:ext cx="1152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도우미</a:t>
            </a:r>
          </a:p>
        </p:txBody>
      </p: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365A701C-FED3-FA80-B202-D90EE2DE61F9}"/>
              </a:ext>
            </a:extLst>
          </p:cNvPr>
          <p:cNvCxnSpPr>
            <a:cxnSpLocks/>
            <a:stCxn id="93" idx="2"/>
            <a:endCxn id="191" idx="0"/>
          </p:cNvCxnSpPr>
          <p:nvPr/>
        </p:nvCxnSpPr>
        <p:spPr>
          <a:xfrm>
            <a:off x="10202105" y="4892456"/>
            <a:ext cx="0" cy="268098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순서도: 카드 195">
            <a:extLst>
              <a:ext uri="{FF2B5EF4-FFF2-40B4-BE49-F238E27FC236}">
                <a16:creationId xmlns:a16="http://schemas.microsoft.com/office/drawing/2014/main" id="{EB49FD52-F783-AC68-F7F1-1DD3F6A56E74}"/>
              </a:ext>
            </a:extLst>
          </p:cNvPr>
          <p:cNvSpPr/>
          <p:nvPr/>
        </p:nvSpPr>
        <p:spPr>
          <a:xfrm>
            <a:off x="376456" y="2573041"/>
            <a:ext cx="845103" cy="414416"/>
          </a:xfrm>
          <a:prstGeom prst="flowChartPunchedCard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시행지침</a:t>
            </a:r>
          </a:p>
        </p:txBody>
      </p:sp>
      <p:sp>
        <p:nvSpPr>
          <p:cNvPr id="197" name="순서도: 카드 196">
            <a:extLst>
              <a:ext uri="{FF2B5EF4-FFF2-40B4-BE49-F238E27FC236}">
                <a16:creationId xmlns:a16="http://schemas.microsoft.com/office/drawing/2014/main" id="{E3BD8E65-226F-6612-8AA8-AD0F79133581}"/>
              </a:ext>
            </a:extLst>
          </p:cNvPr>
          <p:cNvSpPr/>
          <p:nvPr/>
        </p:nvSpPr>
        <p:spPr>
          <a:xfrm>
            <a:off x="376456" y="3259388"/>
            <a:ext cx="845103" cy="414416"/>
          </a:xfrm>
          <a:prstGeom prst="flowChartPunchedCard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사업공고</a:t>
            </a: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13440E59-C49D-3763-FD6C-D63CF4DD21BB}"/>
              </a:ext>
            </a:extLst>
          </p:cNvPr>
          <p:cNvCxnSpPr>
            <a:cxnSpLocks/>
            <a:stCxn id="191" idx="1"/>
            <a:endCxn id="130" idx="3"/>
          </p:cNvCxnSpPr>
          <p:nvPr/>
        </p:nvCxnSpPr>
        <p:spPr>
          <a:xfrm flipH="1" flipV="1">
            <a:off x="8028966" y="4712456"/>
            <a:ext cx="1597139" cy="628098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7D43A621-1DE3-DE50-34A0-9A58F0B8D9A1}"/>
              </a:ext>
            </a:extLst>
          </p:cNvPr>
          <p:cNvSpPr/>
          <p:nvPr/>
        </p:nvSpPr>
        <p:spPr>
          <a:xfrm>
            <a:off x="1871252" y="2228985"/>
            <a:ext cx="1152000" cy="360000"/>
          </a:xfrm>
          <a:prstGeom prst="roundRect">
            <a:avLst>
              <a:gd name="adj" fmla="val 2778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400" dirty="0"/>
              <a:t>RAG</a:t>
            </a:r>
            <a:r>
              <a:rPr lang="ko-KR" altLang="en-US" sz="1400" dirty="0"/>
              <a:t>벡터</a:t>
            </a:r>
          </a:p>
        </p:txBody>
      </p:sp>
      <p:sp>
        <p:nvSpPr>
          <p:cNvPr id="230" name="사각형: 둥근 모서리 229">
            <a:extLst>
              <a:ext uri="{FF2B5EF4-FFF2-40B4-BE49-F238E27FC236}">
                <a16:creationId xmlns:a16="http://schemas.microsoft.com/office/drawing/2014/main" id="{51ED83D8-1B03-EA8B-1222-3FCA4398774E}"/>
              </a:ext>
            </a:extLst>
          </p:cNvPr>
          <p:cNvSpPr/>
          <p:nvPr/>
        </p:nvSpPr>
        <p:spPr>
          <a:xfrm>
            <a:off x="1619252" y="1349830"/>
            <a:ext cx="1656000" cy="4320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RAG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5B62A9DD-FBA0-DFA1-1A81-F4BCDD020206}"/>
              </a:ext>
            </a:extLst>
          </p:cNvPr>
          <p:cNvSpPr/>
          <p:nvPr/>
        </p:nvSpPr>
        <p:spPr>
          <a:xfrm>
            <a:off x="4078742" y="1349830"/>
            <a:ext cx="1656000" cy="4320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+mj-ea"/>
                <a:ea typeface="+mj-ea"/>
              </a:rPr>
              <a:t>사업</a:t>
            </a: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77375E5A-6945-5E66-1BC3-5E9BE49A3DC9}"/>
              </a:ext>
            </a:extLst>
          </p:cNvPr>
          <p:cNvSpPr/>
          <p:nvPr/>
        </p:nvSpPr>
        <p:spPr>
          <a:xfrm>
            <a:off x="6624966" y="1349830"/>
            <a:ext cx="1656000" cy="4320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+mj-ea"/>
                <a:ea typeface="+mj-ea"/>
              </a:rPr>
              <a:t>사업참여</a:t>
            </a:r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7403B4BE-36FB-11C7-4572-0DD90348B025}"/>
              </a:ext>
            </a:extLst>
          </p:cNvPr>
          <p:cNvSpPr/>
          <p:nvPr/>
        </p:nvSpPr>
        <p:spPr>
          <a:xfrm>
            <a:off x="9374105" y="1349830"/>
            <a:ext cx="1656000" cy="4320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+mj-ea"/>
                <a:ea typeface="+mj-ea"/>
              </a:rPr>
              <a:t>마을 </a:t>
            </a:r>
            <a:r>
              <a:rPr lang="en-US" altLang="ko-KR" b="1" dirty="0">
                <a:latin typeface="+mj-ea"/>
                <a:ea typeface="+mj-ea"/>
              </a:rPr>
              <a:t>/ </a:t>
            </a:r>
            <a:r>
              <a:rPr lang="ko-KR" altLang="en-US" b="1" dirty="0">
                <a:latin typeface="+mj-ea"/>
                <a:ea typeface="+mj-ea"/>
              </a:rPr>
              <a:t>농가</a:t>
            </a: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A7079EDE-1BFB-2549-0A20-4D98B46ABE2F}"/>
              </a:ext>
            </a:extLst>
          </p:cNvPr>
          <p:cNvSpPr/>
          <p:nvPr/>
        </p:nvSpPr>
        <p:spPr>
          <a:xfrm>
            <a:off x="6624966" y="5843657"/>
            <a:ext cx="1656000" cy="432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+mj-ea"/>
                <a:ea typeface="+mj-ea"/>
              </a:rPr>
              <a:t>영농일지</a:t>
            </a:r>
          </a:p>
        </p:txBody>
      </p:sp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833983E5-8B7E-376A-0CD0-4B76A723354B}"/>
              </a:ext>
            </a:extLst>
          </p:cNvPr>
          <p:cNvSpPr/>
          <p:nvPr/>
        </p:nvSpPr>
        <p:spPr>
          <a:xfrm>
            <a:off x="9374105" y="5843657"/>
            <a:ext cx="1656000" cy="4320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latin typeface="+mj-ea"/>
                <a:ea typeface="+mj-ea"/>
              </a:rPr>
              <a:t>사용자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3036F080-AE6F-5525-75E5-4660504D7BA8}"/>
              </a:ext>
            </a:extLst>
          </p:cNvPr>
          <p:cNvSpPr/>
          <p:nvPr/>
        </p:nvSpPr>
        <p:spPr>
          <a:xfrm>
            <a:off x="3030211" y="5852988"/>
            <a:ext cx="1656000" cy="432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+mj-ea"/>
                <a:ea typeface="+mj-ea"/>
              </a:rPr>
              <a:t>지원 데이터</a:t>
            </a: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5141E8AF-58C7-5855-6976-61AB196C62F2}"/>
              </a:ext>
            </a:extLst>
          </p:cNvPr>
          <p:cNvSpPr/>
          <p:nvPr/>
        </p:nvSpPr>
        <p:spPr>
          <a:xfrm>
            <a:off x="376456" y="5212588"/>
            <a:ext cx="1788388" cy="12321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699CE09-FA4C-ADC8-E4CE-ED373A1C514F}"/>
              </a:ext>
            </a:extLst>
          </p:cNvPr>
          <p:cNvSpPr txBox="1"/>
          <p:nvPr/>
        </p:nvSpPr>
        <p:spPr>
          <a:xfrm>
            <a:off x="1047937" y="5280580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핵심 테이블</a:t>
            </a: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FAAD77C7-2BBB-5BD6-67B0-7BA530696B4D}"/>
              </a:ext>
            </a:extLst>
          </p:cNvPr>
          <p:cNvSpPr/>
          <p:nvPr/>
        </p:nvSpPr>
        <p:spPr>
          <a:xfrm>
            <a:off x="521207" y="5326468"/>
            <a:ext cx="432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EC25EC48-A668-AFF1-FC45-CDC5101834A9}"/>
              </a:ext>
            </a:extLst>
          </p:cNvPr>
          <p:cNvSpPr txBox="1"/>
          <p:nvPr/>
        </p:nvSpPr>
        <p:spPr>
          <a:xfrm>
            <a:off x="1047937" y="5668490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보조 테이블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0100F758-C95F-1F5A-7517-C58993125D6C}"/>
              </a:ext>
            </a:extLst>
          </p:cNvPr>
          <p:cNvSpPr/>
          <p:nvPr/>
        </p:nvSpPr>
        <p:spPr>
          <a:xfrm>
            <a:off x="521207" y="5714378"/>
            <a:ext cx="43200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F094D6DE-6D16-9D4B-909B-BDBE07A4D43D}"/>
              </a:ext>
            </a:extLst>
          </p:cNvPr>
          <p:cNvSpPr txBox="1"/>
          <p:nvPr/>
        </p:nvSpPr>
        <p:spPr>
          <a:xfrm>
            <a:off x="1047937" y="6051859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지원 테이블</a:t>
            </a:r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115EC0C0-C8AE-7C30-CE6D-5498EEBD9BB5}"/>
              </a:ext>
            </a:extLst>
          </p:cNvPr>
          <p:cNvSpPr/>
          <p:nvPr/>
        </p:nvSpPr>
        <p:spPr>
          <a:xfrm>
            <a:off x="521207" y="6097747"/>
            <a:ext cx="432000" cy="2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52" name="직선 화살표 연결선 251">
            <a:extLst>
              <a:ext uri="{FF2B5EF4-FFF2-40B4-BE49-F238E27FC236}">
                <a16:creationId xmlns:a16="http://schemas.microsoft.com/office/drawing/2014/main" id="{9527A75B-A528-4497-339F-4453180874F3}"/>
              </a:ext>
            </a:extLst>
          </p:cNvPr>
          <p:cNvCxnSpPr>
            <a:stCxn id="230" idx="3"/>
            <a:endCxn id="231" idx="1"/>
          </p:cNvCxnSpPr>
          <p:nvPr/>
        </p:nvCxnSpPr>
        <p:spPr>
          <a:xfrm>
            <a:off x="3275252" y="1565830"/>
            <a:ext cx="8034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화살표 연결선 252">
            <a:extLst>
              <a:ext uri="{FF2B5EF4-FFF2-40B4-BE49-F238E27FC236}">
                <a16:creationId xmlns:a16="http://schemas.microsoft.com/office/drawing/2014/main" id="{75D6B77C-86EC-4A8F-EC63-8A761623FFD5}"/>
              </a:ext>
            </a:extLst>
          </p:cNvPr>
          <p:cNvCxnSpPr>
            <a:cxnSpLocks/>
            <a:stCxn id="231" idx="3"/>
            <a:endCxn id="232" idx="1"/>
          </p:cNvCxnSpPr>
          <p:nvPr/>
        </p:nvCxnSpPr>
        <p:spPr>
          <a:xfrm>
            <a:off x="5734742" y="1565830"/>
            <a:ext cx="890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A7896AA9-C5FC-62F3-5EC0-6B699CC7F487}"/>
              </a:ext>
            </a:extLst>
          </p:cNvPr>
          <p:cNvCxnSpPr>
            <a:cxnSpLocks/>
            <a:stCxn id="233" idx="1"/>
            <a:endCxn id="232" idx="3"/>
          </p:cNvCxnSpPr>
          <p:nvPr/>
        </p:nvCxnSpPr>
        <p:spPr>
          <a:xfrm flipH="1">
            <a:off x="8280966" y="1565830"/>
            <a:ext cx="10931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2E86FCAD-9BD1-AA0E-60C0-CA9A02E84642}"/>
              </a:ext>
            </a:extLst>
          </p:cNvPr>
          <p:cNvCxnSpPr>
            <a:cxnSpLocks/>
            <a:stCxn id="13" idx="1"/>
            <a:endCxn id="43" idx="3"/>
          </p:cNvCxnSpPr>
          <p:nvPr/>
        </p:nvCxnSpPr>
        <p:spPr>
          <a:xfrm flipH="1">
            <a:off x="3987840" y="3024474"/>
            <a:ext cx="34290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501C12E5-4E54-12FF-6CDB-2265B320CE9E}"/>
              </a:ext>
            </a:extLst>
          </p:cNvPr>
          <p:cNvCxnSpPr>
            <a:cxnSpLocks/>
            <a:stCxn id="14" idx="1"/>
            <a:endCxn id="53" idx="3"/>
          </p:cNvCxnSpPr>
          <p:nvPr/>
        </p:nvCxnSpPr>
        <p:spPr>
          <a:xfrm flipH="1" flipV="1">
            <a:off x="3987840" y="3629477"/>
            <a:ext cx="342902" cy="1048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AC0A494-6E56-6BA5-04C8-81B56D8DF58C}"/>
              </a:ext>
            </a:extLst>
          </p:cNvPr>
          <p:cNvSpPr/>
          <p:nvPr/>
        </p:nvSpPr>
        <p:spPr>
          <a:xfrm>
            <a:off x="2601772" y="4964324"/>
            <a:ext cx="1152000" cy="36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CODE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7A786792-BEE3-CC11-68EE-7CF90539E753}"/>
              </a:ext>
            </a:extLst>
          </p:cNvPr>
          <p:cNvSpPr/>
          <p:nvPr/>
        </p:nvSpPr>
        <p:spPr>
          <a:xfrm>
            <a:off x="3999341" y="4964324"/>
            <a:ext cx="1152000" cy="36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알림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8B114D0-C693-B826-F1FB-76854A0241B3}"/>
              </a:ext>
            </a:extLst>
          </p:cNvPr>
          <p:cNvSpPr/>
          <p:nvPr/>
        </p:nvSpPr>
        <p:spPr>
          <a:xfrm>
            <a:off x="2601772" y="5373184"/>
            <a:ext cx="1152000" cy="36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날씨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A6CA140-D85A-6AA2-91CC-BD88EC1747A5}"/>
              </a:ext>
            </a:extLst>
          </p:cNvPr>
          <p:cNvSpPr/>
          <p:nvPr/>
        </p:nvSpPr>
        <p:spPr>
          <a:xfrm>
            <a:off x="3999341" y="5373184"/>
            <a:ext cx="1152000" cy="36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영농조언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BFB5A79-F2DF-0C53-F124-E37E8892DF4E}"/>
              </a:ext>
            </a:extLst>
          </p:cNvPr>
          <p:cNvSpPr/>
          <p:nvPr/>
        </p:nvSpPr>
        <p:spPr>
          <a:xfrm>
            <a:off x="2601772" y="4561717"/>
            <a:ext cx="1152000" cy="36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운영자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C895C23-B845-70CD-36CC-61F7487B6975}"/>
              </a:ext>
            </a:extLst>
          </p:cNvPr>
          <p:cNvSpPr/>
          <p:nvPr/>
        </p:nvSpPr>
        <p:spPr>
          <a:xfrm>
            <a:off x="1871252" y="3459963"/>
            <a:ext cx="1152000" cy="36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목차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양식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9663902-24E9-3EBE-7333-74E7B380EB83}"/>
              </a:ext>
            </a:extLst>
          </p:cNvPr>
          <p:cNvSpPr/>
          <p:nvPr/>
        </p:nvSpPr>
        <p:spPr>
          <a:xfrm>
            <a:off x="3999341" y="4561717"/>
            <a:ext cx="1152000" cy="36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접속이력</a:t>
            </a: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848352" cy="640080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Application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Flow - From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" dirty="0">
                <a:cs typeface="Segoe UI Light" panose="020B0502040204020203" pitchFamily="34" charset="0"/>
              </a:rPr>
              <a:t>Frontend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to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Backend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116B77-DDA4-039A-FC45-4713B1213E7F}"/>
              </a:ext>
            </a:extLst>
          </p:cNvPr>
          <p:cNvSpPr/>
          <p:nvPr/>
        </p:nvSpPr>
        <p:spPr>
          <a:xfrm>
            <a:off x="3747795" y="1592410"/>
            <a:ext cx="1512000" cy="57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accent6">
                    <a:lumMod val="50000"/>
                  </a:schemeClr>
                </a:solidFill>
              </a:rPr>
              <a:t>Page</a:t>
            </a:r>
            <a:endParaRPr lang="ko-KR" altLang="en-US"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1A63D8-8241-C192-7707-52CD4BA50EAA}"/>
              </a:ext>
            </a:extLst>
          </p:cNvPr>
          <p:cNvSpPr/>
          <p:nvPr/>
        </p:nvSpPr>
        <p:spPr>
          <a:xfrm>
            <a:off x="3747795" y="2740075"/>
            <a:ext cx="1512000" cy="57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accent6">
                    <a:lumMod val="50000"/>
                  </a:schemeClr>
                </a:solidFill>
              </a:rPr>
              <a:t>Shell</a:t>
            </a:r>
            <a:endParaRPr lang="ko-KR" altLang="en-US"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F5B6DF-7A3D-51C4-1F68-54A4A7DA7F8F}"/>
              </a:ext>
            </a:extLst>
          </p:cNvPr>
          <p:cNvSpPr/>
          <p:nvPr/>
        </p:nvSpPr>
        <p:spPr>
          <a:xfrm>
            <a:off x="3747795" y="3887740"/>
            <a:ext cx="1512000" cy="57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accent6">
                    <a:lumMod val="50000"/>
                  </a:schemeClr>
                </a:solidFill>
              </a:rPr>
              <a:t>Container</a:t>
            </a:r>
          </a:p>
          <a:p>
            <a:pPr algn="ctr"/>
            <a:r>
              <a:rPr lang="en-US" altLang="ko-KR" sz="1600" b="1" dirty="0">
                <a:solidFill>
                  <a:schemeClr val="accent6">
                    <a:lumMod val="50000"/>
                  </a:schemeClr>
                </a:solidFill>
              </a:rPr>
              <a:t>/Context</a:t>
            </a:r>
            <a:endParaRPr lang="ko-KR" altLang="en-US"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27B118-1772-7C29-3CDD-0BFBF6F47A87}"/>
              </a:ext>
            </a:extLst>
          </p:cNvPr>
          <p:cNvSpPr/>
          <p:nvPr/>
        </p:nvSpPr>
        <p:spPr>
          <a:xfrm>
            <a:off x="3747795" y="5067741"/>
            <a:ext cx="1512000" cy="57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accent6">
                    <a:lumMod val="50000"/>
                  </a:schemeClr>
                </a:solidFill>
              </a:rPr>
              <a:t>Backend </a:t>
            </a:r>
            <a:r>
              <a:rPr lang="ko-KR" altLang="en-US" sz="1600" b="1" dirty="0">
                <a:solidFill>
                  <a:schemeClr val="accent6">
                    <a:lumMod val="50000"/>
                  </a:schemeClr>
                </a:solidFill>
              </a:rPr>
              <a:t>호출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C158D0-921C-A708-F6F7-91F7119C4A3F}"/>
              </a:ext>
            </a:extLst>
          </p:cNvPr>
          <p:cNvSpPr/>
          <p:nvPr/>
        </p:nvSpPr>
        <p:spPr>
          <a:xfrm>
            <a:off x="6932206" y="1592410"/>
            <a:ext cx="1512000" cy="576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Repository</a:t>
            </a:r>
            <a:endParaRPr lang="ko-KR" altLang="en-US" sz="16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E5EE11-89B1-C403-AE06-6F81A116DBF0}"/>
              </a:ext>
            </a:extLst>
          </p:cNvPr>
          <p:cNvSpPr/>
          <p:nvPr/>
        </p:nvSpPr>
        <p:spPr>
          <a:xfrm>
            <a:off x="6932206" y="2740075"/>
            <a:ext cx="1512000" cy="576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Service</a:t>
            </a:r>
            <a:endParaRPr lang="ko-KR" altLang="en-US" sz="16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084A74-0885-2F46-D060-B3350EA5915C}"/>
              </a:ext>
            </a:extLst>
          </p:cNvPr>
          <p:cNvSpPr/>
          <p:nvPr/>
        </p:nvSpPr>
        <p:spPr>
          <a:xfrm>
            <a:off x="6932206" y="3887740"/>
            <a:ext cx="1512000" cy="576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Router</a:t>
            </a:r>
            <a:endParaRPr lang="ko-KR" altLang="en-US" sz="16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93FAA8-F349-8898-0F56-039EC56D3C36}"/>
              </a:ext>
            </a:extLst>
          </p:cNvPr>
          <p:cNvSpPr/>
          <p:nvPr/>
        </p:nvSpPr>
        <p:spPr>
          <a:xfrm>
            <a:off x="6932206" y="5067741"/>
            <a:ext cx="1512000" cy="576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Main</a:t>
            </a:r>
            <a:endParaRPr lang="ko-KR" altLang="en-US" sz="1600" b="1" dirty="0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14FA67C7-5CA1-5AD7-2B3E-F84771FB54D4}"/>
              </a:ext>
            </a:extLst>
          </p:cNvPr>
          <p:cNvSpPr/>
          <p:nvPr/>
        </p:nvSpPr>
        <p:spPr>
          <a:xfrm>
            <a:off x="4321849" y="2313356"/>
            <a:ext cx="363893" cy="326571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A00E110A-70F1-35EE-644F-1A83F14115A3}"/>
              </a:ext>
            </a:extLst>
          </p:cNvPr>
          <p:cNvSpPr/>
          <p:nvPr/>
        </p:nvSpPr>
        <p:spPr>
          <a:xfrm>
            <a:off x="4321849" y="3454790"/>
            <a:ext cx="363893" cy="326571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8ADD89DB-37C9-A8CC-90AA-D831935A9CF9}"/>
              </a:ext>
            </a:extLst>
          </p:cNvPr>
          <p:cNvSpPr/>
          <p:nvPr/>
        </p:nvSpPr>
        <p:spPr>
          <a:xfrm>
            <a:off x="4321849" y="4628880"/>
            <a:ext cx="360000" cy="28800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A37004D-3296-B34C-F47A-51ACB35D332A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5259795" y="5355741"/>
            <a:ext cx="1672411" cy="0"/>
          </a:xfrm>
          <a:prstGeom prst="straightConnector1">
            <a:avLst/>
          </a:prstGeom>
          <a:ln w="38100">
            <a:solidFill>
              <a:srgbClr val="D2472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화살표: 위쪽 25">
            <a:extLst>
              <a:ext uri="{FF2B5EF4-FFF2-40B4-BE49-F238E27FC236}">
                <a16:creationId xmlns:a16="http://schemas.microsoft.com/office/drawing/2014/main" id="{BD94330C-259D-A4BB-E6D7-502A0B397B64}"/>
              </a:ext>
            </a:extLst>
          </p:cNvPr>
          <p:cNvSpPr/>
          <p:nvPr/>
        </p:nvSpPr>
        <p:spPr>
          <a:xfrm>
            <a:off x="7508206" y="4651284"/>
            <a:ext cx="360000" cy="288000"/>
          </a:xfrm>
          <a:prstGeom prst="up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위쪽 26">
            <a:extLst>
              <a:ext uri="{FF2B5EF4-FFF2-40B4-BE49-F238E27FC236}">
                <a16:creationId xmlns:a16="http://schemas.microsoft.com/office/drawing/2014/main" id="{6B957B16-3291-E48F-6DF1-8BDF8FA97127}"/>
              </a:ext>
            </a:extLst>
          </p:cNvPr>
          <p:cNvSpPr/>
          <p:nvPr/>
        </p:nvSpPr>
        <p:spPr>
          <a:xfrm>
            <a:off x="7508206" y="3470054"/>
            <a:ext cx="360000" cy="288000"/>
          </a:xfrm>
          <a:prstGeom prst="up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화살표: 위쪽 27">
            <a:extLst>
              <a:ext uri="{FF2B5EF4-FFF2-40B4-BE49-F238E27FC236}">
                <a16:creationId xmlns:a16="http://schemas.microsoft.com/office/drawing/2014/main" id="{8FB9314D-6949-94A1-EEAF-E9EDD02E6DCA}"/>
              </a:ext>
            </a:extLst>
          </p:cNvPr>
          <p:cNvSpPr/>
          <p:nvPr/>
        </p:nvSpPr>
        <p:spPr>
          <a:xfrm>
            <a:off x="7508206" y="2267807"/>
            <a:ext cx="360000" cy="288000"/>
          </a:xfrm>
          <a:prstGeom prst="up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BF2F52-72BC-5534-9A75-1059F50B9E24}"/>
              </a:ext>
            </a:extLst>
          </p:cNvPr>
          <p:cNvSpPr txBox="1"/>
          <p:nvPr/>
        </p:nvSpPr>
        <p:spPr>
          <a:xfrm>
            <a:off x="1203113" y="1618800"/>
            <a:ext cx="239796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ko-KR" sz="1400" dirty="0"/>
              <a:t>각 URL 경로의 진입 화면</a:t>
            </a:r>
            <a:endParaRPr lang="en-US" altLang="ko-KR" sz="1400" dirty="0"/>
          </a:p>
          <a:p>
            <a:pPr algn="r"/>
            <a:r>
              <a:rPr lang="ko-KR" altLang="en-US" sz="1400" dirty="0"/>
              <a:t>페이지 </a:t>
            </a:r>
            <a:r>
              <a:rPr lang="en-US" altLang="ko-KR" sz="1400" dirty="0"/>
              <a:t>Layout </a:t>
            </a:r>
            <a:r>
              <a:rPr lang="ko-KR" altLang="en-US" sz="1400" dirty="0"/>
              <a:t>별도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988DAB-A5FA-D216-1C30-CA42E0D627F7}"/>
              </a:ext>
            </a:extLst>
          </p:cNvPr>
          <p:cNvSpPr txBox="1"/>
          <p:nvPr/>
        </p:nvSpPr>
        <p:spPr>
          <a:xfrm>
            <a:off x="924924" y="2766465"/>
            <a:ext cx="267615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400" dirty="0"/>
              <a:t>공통 화면 프레임 구조</a:t>
            </a:r>
            <a:endParaRPr lang="en-US" altLang="ko-KR" sz="1400" dirty="0"/>
          </a:p>
          <a:p>
            <a:pPr algn="r"/>
            <a:r>
              <a:rPr lang="en-US" altLang="ko-KR" sz="1400" dirty="0"/>
              <a:t>- Header, Sidebar</a:t>
            </a:r>
            <a:endParaRPr lang="ko-KR" alt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6AA65A-98C2-5E06-E035-AD1728FB545B}"/>
              </a:ext>
            </a:extLst>
          </p:cNvPr>
          <p:cNvSpPr txBox="1"/>
          <p:nvPr/>
        </p:nvSpPr>
        <p:spPr>
          <a:xfrm>
            <a:off x="924924" y="4022072"/>
            <a:ext cx="267615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400" dirty="0"/>
              <a:t>화면 간 공유 데이터</a:t>
            </a:r>
            <a:r>
              <a:rPr lang="en-US" altLang="ko-KR" sz="1400" dirty="0"/>
              <a:t> </a:t>
            </a:r>
            <a:r>
              <a:rPr lang="ko-KR" altLang="en-US" sz="1400" dirty="0"/>
              <a:t>관리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87AFFB-221A-BF54-E8F7-E269F09C63D5}"/>
              </a:ext>
            </a:extLst>
          </p:cNvPr>
          <p:cNvSpPr txBox="1"/>
          <p:nvPr/>
        </p:nvSpPr>
        <p:spPr>
          <a:xfrm>
            <a:off x="653027" y="5201852"/>
            <a:ext cx="29480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400" dirty="0" err="1"/>
              <a:t>백엔드에</a:t>
            </a:r>
            <a:r>
              <a:rPr lang="ko-KR" altLang="en-US" sz="1400" dirty="0"/>
              <a:t> 데이터 조회 및 등록 요청</a:t>
            </a:r>
            <a:endParaRPr lang="en-US" altLang="ko-KR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9E6E93-90FE-62FD-7287-9D4844E16B73}"/>
              </a:ext>
            </a:extLst>
          </p:cNvPr>
          <p:cNvSpPr txBox="1"/>
          <p:nvPr/>
        </p:nvSpPr>
        <p:spPr>
          <a:xfrm>
            <a:off x="8638762" y="5201852"/>
            <a:ext cx="29480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400" dirty="0" err="1"/>
              <a:t>백엔드</a:t>
            </a:r>
            <a:r>
              <a:rPr lang="ko-KR" altLang="en-US" sz="1400" dirty="0"/>
              <a:t> 시작점</a:t>
            </a:r>
            <a:r>
              <a:rPr lang="en-US" altLang="ko-KR" sz="1400" dirty="0"/>
              <a:t>, </a:t>
            </a:r>
            <a:r>
              <a:rPr lang="ko-KR" altLang="en-US" sz="1400" dirty="0"/>
              <a:t>라우팅 관리</a:t>
            </a:r>
            <a:endParaRPr lang="en-US" altLang="ko-KR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6250DA-C8BD-AFC8-D4BF-680896F456C7}"/>
              </a:ext>
            </a:extLst>
          </p:cNvPr>
          <p:cNvSpPr txBox="1"/>
          <p:nvPr/>
        </p:nvSpPr>
        <p:spPr>
          <a:xfrm>
            <a:off x="8638762" y="4021851"/>
            <a:ext cx="29480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400" dirty="0"/>
              <a:t>개별 요청별 처리 모듈 </a:t>
            </a:r>
            <a:r>
              <a:rPr lang="en-US" altLang="ko-KR" sz="1400" dirty="0"/>
              <a:t>– </a:t>
            </a:r>
            <a:r>
              <a:rPr lang="ko-KR" altLang="en-US" sz="1400" dirty="0"/>
              <a:t>서비스 호출</a:t>
            </a:r>
            <a:endParaRPr lang="en-US" altLang="ko-KR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597918-D467-275B-0F15-77C3FA9911A3}"/>
              </a:ext>
            </a:extLst>
          </p:cNvPr>
          <p:cNvSpPr txBox="1"/>
          <p:nvPr/>
        </p:nvSpPr>
        <p:spPr>
          <a:xfrm>
            <a:off x="8638762" y="2915213"/>
            <a:ext cx="29480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400" dirty="0"/>
              <a:t>실제 업무 로직 처리 및 외부 </a:t>
            </a:r>
            <a:r>
              <a:rPr lang="en-US" altLang="ko-KR" sz="1400" dirty="0"/>
              <a:t>API </a:t>
            </a:r>
            <a:r>
              <a:rPr lang="ko-KR" altLang="en-US" sz="1400" dirty="0"/>
              <a:t>연동</a:t>
            </a:r>
            <a:endParaRPr lang="en-US" altLang="ko-KR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C1AA37-3CC5-320B-C998-8B18C8E687A7}"/>
              </a:ext>
            </a:extLst>
          </p:cNvPr>
          <p:cNvSpPr txBox="1"/>
          <p:nvPr/>
        </p:nvSpPr>
        <p:spPr>
          <a:xfrm>
            <a:off x="8638762" y="1726521"/>
            <a:ext cx="29480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/>
              <a:t>DBMS </a:t>
            </a:r>
            <a:r>
              <a:rPr lang="ko-KR" altLang="en-US" sz="1400" dirty="0"/>
              <a:t>및 파일 접속 서비스</a:t>
            </a:r>
            <a:endParaRPr lang="en-US" altLang="ko-KR" sz="1400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13ECEF1D-1015-A072-47A8-ADF927FE7A37}"/>
              </a:ext>
            </a:extLst>
          </p:cNvPr>
          <p:cNvSpPr/>
          <p:nvPr/>
        </p:nvSpPr>
        <p:spPr>
          <a:xfrm>
            <a:off x="8139574" y="3458541"/>
            <a:ext cx="998375" cy="288000"/>
          </a:xfrm>
          <a:prstGeom prst="ellips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schema</a:t>
            </a:r>
            <a:endParaRPr lang="ko-KR" altLang="en-US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3855A1-341E-4222-DFAD-E538AC5C6AAF}"/>
              </a:ext>
            </a:extLst>
          </p:cNvPr>
          <p:cNvSpPr txBox="1"/>
          <p:nvPr/>
        </p:nvSpPr>
        <p:spPr>
          <a:xfrm>
            <a:off x="5553223" y="495629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REST API</a:t>
            </a:r>
            <a:endParaRPr lang="ko-KR" alt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29C0EE-651F-B43C-3D93-A4BD4155AE4D}"/>
              </a:ext>
            </a:extLst>
          </p:cNvPr>
          <p:cNvSpPr txBox="1"/>
          <p:nvPr/>
        </p:nvSpPr>
        <p:spPr>
          <a:xfrm>
            <a:off x="9137949" y="3464041"/>
            <a:ext cx="155272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/>
              <a:t>Schema</a:t>
            </a:r>
            <a:r>
              <a:rPr lang="ko-KR" altLang="en-US" sz="1200" dirty="0"/>
              <a:t> 객체 송수신</a:t>
            </a:r>
            <a:endParaRPr lang="en-US" altLang="ko-KR" sz="1200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F85ACA32-B197-B48F-94EE-630F545D95ED}"/>
              </a:ext>
            </a:extLst>
          </p:cNvPr>
          <p:cNvSpPr/>
          <p:nvPr/>
        </p:nvSpPr>
        <p:spPr>
          <a:xfrm>
            <a:off x="1073020" y="5894155"/>
            <a:ext cx="4176000" cy="432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accent6">
                    <a:lumMod val="50000"/>
                  </a:schemeClr>
                </a:solidFill>
              </a:rPr>
              <a:t>Next.js Framework with React</a:t>
            </a:r>
            <a:endParaRPr lang="ko-KR" altLang="en-US"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ECFA61E5-AFB7-3122-07D4-0F3CC7065D7D}"/>
              </a:ext>
            </a:extLst>
          </p:cNvPr>
          <p:cNvSpPr/>
          <p:nvPr/>
        </p:nvSpPr>
        <p:spPr>
          <a:xfrm>
            <a:off x="6932205" y="5894155"/>
            <a:ext cx="4176000" cy="432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accent6">
                    <a:lumMod val="50000"/>
                  </a:schemeClr>
                </a:solidFill>
              </a:rPr>
              <a:t>FastAPI</a:t>
            </a:r>
            <a:r>
              <a:rPr lang="en-US" altLang="ko-KR" sz="1600" b="1" dirty="0">
                <a:solidFill>
                  <a:schemeClr val="accent6">
                    <a:lumMod val="50000"/>
                  </a:schemeClr>
                </a:solidFill>
              </a:rPr>
              <a:t> Framework with </a:t>
            </a:r>
            <a:r>
              <a:rPr lang="en-US" altLang="ko-KR" sz="1600" b="1" dirty="0" err="1">
                <a:solidFill>
                  <a:schemeClr val="accent6">
                    <a:lumMod val="50000"/>
                  </a:schemeClr>
                </a:solidFill>
              </a:rPr>
              <a:t>uvicorn</a:t>
            </a:r>
            <a:endParaRPr lang="ko-KR" altLang="en-US"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화살표: 오른쪽 174">
            <a:extLst>
              <a:ext uri="{FF2B5EF4-FFF2-40B4-BE49-F238E27FC236}">
                <a16:creationId xmlns:a16="http://schemas.microsoft.com/office/drawing/2014/main" id="{710C2920-DBE1-DD84-807E-7F1F582156EB}"/>
              </a:ext>
            </a:extLst>
          </p:cNvPr>
          <p:cNvSpPr/>
          <p:nvPr/>
        </p:nvSpPr>
        <p:spPr>
          <a:xfrm>
            <a:off x="3031828" y="1553819"/>
            <a:ext cx="540000" cy="432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RAG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Flow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-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From File to RAG Vector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170CB7-68CF-24D8-4B1D-7871C6786B58}"/>
              </a:ext>
            </a:extLst>
          </p:cNvPr>
          <p:cNvSpPr/>
          <p:nvPr/>
        </p:nvSpPr>
        <p:spPr>
          <a:xfrm>
            <a:off x="3746770" y="1553819"/>
            <a:ext cx="1944000" cy="432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Parsing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6901869-6A9B-A531-8214-B3BCA959B587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493436" y="3079568"/>
            <a:ext cx="1577334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E00820C-D537-C0F8-8A8B-AF646957175F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2493436" y="3600516"/>
            <a:ext cx="1577334" cy="2604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A306065-D347-638C-64B4-514A6CAB3E89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 flipV="1">
            <a:off x="2493436" y="4110285"/>
            <a:ext cx="1577334" cy="10014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F0DE303-B411-4F0A-F168-81B74FDF5609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2493436" y="4640082"/>
            <a:ext cx="1577334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85C9B4-8B39-A2E2-B1E3-38537F3DDF0F}"/>
              </a:ext>
            </a:extLst>
          </p:cNvPr>
          <p:cNvSpPr/>
          <p:nvPr/>
        </p:nvSpPr>
        <p:spPr>
          <a:xfrm>
            <a:off x="9414538" y="1553819"/>
            <a:ext cx="1944000" cy="432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Embedding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F87DE37-403B-955E-22F9-05EEED556DFC}"/>
              </a:ext>
            </a:extLst>
          </p:cNvPr>
          <p:cNvSpPr/>
          <p:nvPr/>
        </p:nvSpPr>
        <p:spPr>
          <a:xfrm>
            <a:off x="6580654" y="1553819"/>
            <a:ext cx="1944000" cy="432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Chunking</a:t>
            </a: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3A1A86D8-37FA-8A9B-643D-23C110556ADA}"/>
              </a:ext>
            </a:extLst>
          </p:cNvPr>
          <p:cNvCxnSpPr>
            <a:cxnSpLocks/>
            <a:stCxn id="45" idx="0"/>
            <a:endCxn id="15" idx="2"/>
          </p:cNvCxnSpPr>
          <p:nvPr/>
        </p:nvCxnSpPr>
        <p:spPr>
          <a:xfrm flipH="1" flipV="1">
            <a:off x="4718770" y="4964879"/>
            <a:ext cx="1" cy="26881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7DDB97-8B3D-B42E-BC16-367E88F520F3}"/>
              </a:ext>
            </a:extLst>
          </p:cNvPr>
          <p:cNvSpPr/>
          <p:nvPr/>
        </p:nvSpPr>
        <p:spPr>
          <a:xfrm>
            <a:off x="5830169" y="5763730"/>
            <a:ext cx="1152000" cy="36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목차 </a:t>
            </a:r>
            <a:r>
              <a:rPr lang="en-US" altLang="ko-KR" sz="1200" dirty="0">
                <a:solidFill>
                  <a:schemeClr val="tx1"/>
                </a:solidFill>
              </a:rPr>
              <a:t>Template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6BDD5C9-AE3F-78EC-1C40-733958BEA87A}"/>
              </a:ext>
            </a:extLst>
          </p:cNvPr>
          <p:cNvSpPr txBox="1"/>
          <p:nvPr/>
        </p:nvSpPr>
        <p:spPr>
          <a:xfrm>
            <a:off x="7054171" y="5534567"/>
            <a:ext cx="15167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- </a:t>
            </a:r>
            <a:r>
              <a:rPr lang="ko-KR" altLang="en-US" sz="1200" dirty="0" err="1"/>
              <a:t>정부</a:t>
            </a:r>
            <a:r>
              <a:rPr lang="ko-KR" altLang="en-US"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∙</a:t>
            </a:r>
            <a:r>
              <a:rPr lang="ko-KR" altLang="en-US" sz="1200" dirty="0" err="1"/>
              <a:t>공공기관</a:t>
            </a:r>
            <a:r>
              <a:rPr lang="ko-KR" altLang="en-US" sz="1200" dirty="0"/>
              <a:t> 표준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법조문 표준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일반</a:t>
            </a:r>
            <a:r>
              <a:rPr lang="en-US" altLang="ko-KR" sz="1200" dirty="0"/>
              <a:t>/</a:t>
            </a:r>
            <a:r>
              <a:rPr lang="ko-KR" altLang="en-US" sz="1200" dirty="0"/>
              <a:t>기술문서 표준</a:t>
            </a:r>
            <a:endParaRPr lang="en-US" altLang="ko-KR" sz="1200" dirty="0"/>
          </a:p>
          <a:p>
            <a:r>
              <a:rPr lang="en-US" altLang="ko-KR" sz="1200" dirty="0"/>
              <a:t>- Customized </a:t>
            </a:r>
            <a:endParaRPr lang="ko-KR" altLang="en-US" sz="1200" dirty="0"/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337FAED1-59C5-D481-86D3-8F58405110A7}"/>
              </a:ext>
            </a:extLst>
          </p:cNvPr>
          <p:cNvGrpSpPr/>
          <p:nvPr/>
        </p:nvGrpSpPr>
        <p:grpSpPr>
          <a:xfrm>
            <a:off x="3746770" y="2156879"/>
            <a:ext cx="1944000" cy="2808000"/>
            <a:chOff x="3426440" y="2156879"/>
            <a:chExt cx="1944000" cy="280800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98D032E9-4CDF-EEFD-1ADD-9272A14BB49B}"/>
                </a:ext>
              </a:extLst>
            </p:cNvPr>
            <p:cNvSpPr/>
            <p:nvPr/>
          </p:nvSpPr>
          <p:spPr>
            <a:xfrm>
              <a:off x="3750440" y="2899568"/>
              <a:ext cx="1296000" cy="360000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>
                  <a:solidFill>
                    <a:schemeClr val="accent5">
                      <a:lumMod val="50000"/>
                    </a:schemeClr>
                  </a:solidFill>
                </a:rPr>
                <a:t>HWPX Parser</a:t>
              </a:r>
              <a:endParaRPr lang="ko-KR" altLang="en-US" sz="14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E18572A-77E0-63CB-F211-5BBD34BFFEA6}"/>
                </a:ext>
              </a:extLst>
            </p:cNvPr>
            <p:cNvSpPr/>
            <p:nvPr/>
          </p:nvSpPr>
          <p:spPr>
            <a:xfrm>
              <a:off x="3750440" y="3423120"/>
              <a:ext cx="1296000" cy="3600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>
                  <a:solidFill>
                    <a:schemeClr val="accent5">
                      <a:lumMod val="50000"/>
                    </a:schemeClr>
                  </a:solidFill>
                </a:rPr>
                <a:t>PDF Parser</a:t>
              </a:r>
              <a:endParaRPr lang="ko-KR" altLang="en-US" sz="14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D5AC2925-625C-0C7B-DB29-ED092E19E53B}"/>
                </a:ext>
              </a:extLst>
            </p:cNvPr>
            <p:cNvSpPr/>
            <p:nvPr/>
          </p:nvSpPr>
          <p:spPr>
            <a:xfrm>
              <a:off x="3750440" y="3930285"/>
              <a:ext cx="1296000" cy="3600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>
                  <a:solidFill>
                    <a:schemeClr val="accent5">
                      <a:lumMod val="50000"/>
                    </a:schemeClr>
                  </a:solidFill>
                </a:rPr>
                <a:t>DOCX </a:t>
              </a:r>
              <a:r>
                <a:rPr lang="en-US" altLang="ko-KR" sz="1400" dirty="0">
                  <a:solidFill>
                    <a:schemeClr val="accent5">
                      <a:lumMod val="50000"/>
                    </a:schemeClr>
                  </a:solidFill>
                </a:rPr>
                <a:t>Parser</a:t>
              </a:r>
              <a:endParaRPr lang="ko-KR" altLang="en-US" sz="14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F347FFF3-D2B5-7E0C-FAF4-D002DAB0C54E}"/>
                </a:ext>
              </a:extLst>
            </p:cNvPr>
            <p:cNvSpPr/>
            <p:nvPr/>
          </p:nvSpPr>
          <p:spPr>
            <a:xfrm>
              <a:off x="3750440" y="4460082"/>
              <a:ext cx="1296000" cy="3600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>
                  <a:solidFill>
                    <a:schemeClr val="accent5">
                      <a:lumMod val="50000"/>
                    </a:schemeClr>
                  </a:solidFill>
                </a:rPr>
                <a:t>MD Parser</a:t>
              </a:r>
              <a:endParaRPr lang="ko-KR" altLang="en-US" sz="14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58243C48-77BC-520D-5CC3-3ECF363F2AEE}"/>
                </a:ext>
              </a:extLst>
            </p:cNvPr>
            <p:cNvGrpSpPr/>
            <p:nvPr/>
          </p:nvGrpSpPr>
          <p:grpSpPr>
            <a:xfrm>
              <a:off x="3426440" y="2156879"/>
              <a:ext cx="1944000" cy="2808000"/>
              <a:chOff x="2168834" y="2232425"/>
              <a:chExt cx="1656000" cy="2544843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C1AD1299-061F-4102-98E3-8CBD2E99F047}"/>
                  </a:ext>
                </a:extLst>
              </p:cNvPr>
              <p:cNvSpPr/>
              <p:nvPr/>
            </p:nvSpPr>
            <p:spPr>
              <a:xfrm>
                <a:off x="2168834" y="2232425"/>
                <a:ext cx="1656000" cy="2544843"/>
              </a:xfrm>
              <a:prstGeom prst="roundRect">
                <a:avLst>
                  <a:gd name="adj" fmla="val 5922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D1784C41-F9B5-62BA-0C90-907A1C0687B6}"/>
                  </a:ext>
                </a:extLst>
              </p:cNvPr>
              <p:cNvSpPr/>
              <p:nvPr/>
            </p:nvSpPr>
            <p:spPr>
              <a:xfrm>
                <a:off x="2168834" y="4660284"/>
                <a:ext cx="72000" cy="7200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B8AC7295-C9A5-D997-6D61-B32D14BD4208}"/>
                </a:ext>
              </a:extLst>
            </p:cNvPr>
            <p:cNvSpPr/>
            <p:nvPr/>
          </p:nvSpPr>
          <p:spPr>
            <a:xfrm>
              <a:off x="3570440" y="2320403"/>
              <a:ext cx="1656000" cy="4320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/>
                <a:t>Document Parser</a:t>
              </a:r>
              <a:endParaRPr lang="ko-KR" altLang="en-US" sz="1400" dirty="0"/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AFD1D8B5-1A23-87DA-4021-F3ADC82BD93D}"/>
              </a:ext>
            </a:extLst>
          </p:cNvPr>
          <p:cNvGrpSpPr/>
          <p:nvPr/>
        </p:nvGrpSpPr>
        <p:grpSpPr>
          <a:xfrm>
            <a:off x="9414538" y="2156879"/>
            <a:ext cx="1944000" cy="2808000"/>
            <a:chOff x="8510109" y="2271179"/>
            <a:chExt cx="1944000" cy="2808000"/>
          </a:xfrm>
        </p:grpSpPr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60077704-D7C2-64B9-DFEA-FB031A675E05}"/>
                </a:ext>
              </a:extLst>
            </p:cNvPr>
            <p:cNvSpPr/>
            <p:nvPr/>
          </p:nvSpPr>
          <p:spPr>
            <a:xfrm>
              <a:off x="8834109" y="2977868"/>
              <a:ext cx="1296000" cy="5760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>
                  <a:solidFill>
                    <a:schemeClr val="accent5">
                      <a:lumMod val="50000"/>
                    </a:schemeClr>
                  </a:solidFill>
                </a:rPr>
                <a:t>Open-AI</a:t>
              </a:r>
            </a:p>
            <a:p>
              <a:pPr algn="ctr"/>
              <a:r>
                <a:rPr lang="en-US" altLang="ko-KR" sz="1400" dirty="0">
                  <a:solidFill>
                    <a:schemeClr val="accent5">
                      <a:lumMod val="50000"/>
                    </a:schemeClr>
                  </a:solidFill>
                </a:rPr>
                <a:t>Embedder</a:t>
              </a:r>
              <a:endParaRPr lang="ko-KR" altLang="en-US" sz="14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36" name="사각형: 둥근 모서리 135">
              <a:extLst>
                <a:ext uri="{FF2B5EF4-FFF2-40B4-BE49-F238E27FC236}">
                  <a16:creationId xmlns:a16="http://schemas.microsoft.com/office/drawing/2014/main" id="{5408D7D7-F6D3-41C8-E2AF-43D6A8B43709}"/>
                </a:ext>
              </a:extLst>
            </p:cNvPr>
            <p:cNvSpPr/>
            <p:nvPr/>
          </p:nvSpPr>
          <p:spPr>
            <a:xfrm>
              <a:off x="8654109" y="2434703"/>
              <a:ext cx="1656000" cy="4320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/>
                <a:t>Vector Embedder</a:t>
              </a:r>
              <a:endParaRPr lang="ko-KR" altLang="en-US" sz="1400" dirty="0"/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973BCFDB-F5A8-AC1F-4ADA-DA03B326BA05}"/>
                </a:ext>
              </a:extLst>
            </p:cNvPr>
            <p:cNvGrpSpPr/>
            <p:nvPr/>
          </p:nvGrpSpPr>
          <p:grpSpPr>
            <a:xfrm>
              <a:off x="8510109" y="2271179"/>
              <a:ext cx="1944000" cy="2808000"/>
              <a:chOff x="2168834" y="2232425"/>
              <a:chExt cx="1656000" cy="2544843"/>
            </a:xfrm>
          </p:grpSpPr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A31F4DEA-84CB-9E16-6A38-BD72A4DC30AA}"/>
                  </a:ext>
                </a:extLst>
              </p:cNvPr>
              <p:cNvSpPr/>
              <p:nvPr/>
            </p:nvSpPr>
            <p:spPr>
              <a:xfrm>
                <a:off x="2168834" y="2232425"/>
                <a:ext cx="1656000" cy="2544843"/>
              </a:xfrm>
              <a:prstGeom prst="roundRect">
                <a:avLst>
                  <a:gd name="adj" fmla="val 5922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375B8827-FC8A-FBFA-FE53-859D453997BE}"/>
                  </a:ext>
                </a:extLst>
              </p:cNvPr>
              <p:cNvSpPr/>
              <p:nvPr/>
            </p:nvSpPr>
            <p:spPr>
              <a:xfrm>
                <a:off x="2168834" y="4660284"/>
                <a:ext cx="72000" cy="7200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0" name="사각형: 둥근 모서리 179">
              <a:extLst>
                <a:ext uri="{FF2B5EF4-FFF2-40B4-BE49-F238E27FC236}">
                  <a16:creationId xmlns:a16="http://schemas.microsoft.com/office/drawing/2014/main" id="{0007D41B-7BA0-07F5-BB9A-AC25A630DB2C}"/>
                </a:ext>
              </a:extLst>
            </p:cNvPr>
            <p:cNvSpPr/>
            <p:nvPr/>
          </p:nvSpPr>
          <p:spPr>
            <a:xfrm>
              <a:off x="8834109" y="3692500"/>
              <a:ext cx="1296000" cy="5760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>
                  <a:solidFill>
                    <a:schemeClr val="accent5">
                      <a:lumMod val="50000"/>
                    </a:schemeClr>
                  </a:solidFill>
                </a:rPr>
                <a:t>TBD</a:t>
              </a:r>
              <a:endParaRPr lang="ko-KR" altLang="en-US" sz="14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0AB05665-3FC9-E573-AEEF-F492464D179F}"/>
              </a:ext>
            </a:extLst>
          </p:cNvPr>
          <p:cNvCxnSpPr>
            <a:stCxn id="119" idx="3"/>
            <a:endCxn id="132" idx="1"/>
          </p:cNvCxnSpPr>
          <p:nvPr/>
        </p:nvCxnSpPr>
        <p:spPr>
          <a:xfrm>
            <a:off x="5546770" y="2536403"/>
            <a:ext cx="1177884" cy="0"/>
          </a:xfrm>
          <a:prstGeom prst="straightConnector1">
            <a:avLst/>
          </a:prstGeom>
          <a:ln w="38100">
            <a:solidFill>
              <a:srgbClr val="DD46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47AB6086-F7BD-ECF7-84D4-0B83D8884CDE}"/>
              </a:ext>
            </a:extLst>
          </p:cNvPr>
          <p:cNvCxnSpPr>
            <a:cxnSpLocks/>
            <a:stCxn id="132" idx="3"/>
            <a:endCxn id="136" idx="1"/>
          </p:cNvCxnSpPr>
          <p:nvPr/>
        </p:nvCxnSpPr>
        <p:spPr>
          <a:xfrm>
            <a:off x="8380654" y="2536403"/>
            <a:ext cx="1177884" cy="0"/>
          </a:xfrm>
          <a:prstGeom prst="straightConnector1">
            <a:avLst/>
          </a:prstGeom>
          <a:ln w="38100">
            <a:solidFill>
              <a:srgbClr val="DD46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69C84B0B-ABB8-2359-2637-875BD6D1CF8E}"/>
              </a:ext>
            </a:extLst>
          </p:cNvPr>
          <p:cNvSpPr/>
          <p:nvPr/>
        </p:nvSpPr>
        <p:spPr>
          <a:xfrm>
            <a:off x="1272886" y="1553819"/>
            <a:ext cx="1584000" cy="432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Document</a:t>
            </a: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4952CBF6-B60E-6C97-25FE-7F08FE9C10A1}"/>
              </a:ext>
            </a:extLst>
          </p:cNvPr>
          <p:cNvGrpSpPr/>
          <p:nvPr/>
        </p:nvGrpSpPr>
        <p:grpSpPr>
          <a:xfrm>
            <a:off x="1272886" y="2156879"/>
            <a:ext cx="1584000" cy="2918998"/>
            <a:chOff x="520411" y="2271179"/>
            <a:chExt cx="1584000" cy="2918998"/>
          </a:xfrm>
        </p:grpSpPr>
        <p:sp>
          <p:nvSpPr>
            <p:cNvPr id="6" name="순서도: 문서 5">
              <a:extLst>
                <a:ext uri="{FF2B5EF4-FFF2-40B4-BE49-F238E27FC236}">
                  <a16:creationId xmlns:a16="http://schemas.microsoft.com/office/drawing/2014/main" id="{A623ADF3-3312-2C7C-3841-129C769755A8}"/>
                </a:ext>
              </a:extLst>
            </p:cNvPr>
            <p:cNvSpPr/>
            <p:nvPr/>
          </p:nvSpPr>
          <p:spPr>
            <a:xfrm>
              <a:off x="883861" y="2977868"/>
              <a:ext cx="857100" cy="432000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HWPX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순서도: 문서 7">
              <a:extLst>
                <a:ext uri="{FF2B5EF4-FFF2-40B4-BE49-F238E27FC236}">
                  <a16:creationId xmlns:a16="http://schemas.microsoft.com/office/drawing/2014/main" id="{DF0FB3EF-7D32-1531-283E-6C000247E5D0}"/>
                </a:ext>
              </a:extLst>
            </p:cNvPr>
            <p:cNvSpPr/>
            <p:nvPr/>
          </p:nvSpPr>
          <p:spPr>
            <a:xfrm>
              <a:off x="883861" y="3498816"/>
              <a:ext cx="857100" cy="432000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PDF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순서도: 문서 8">
              <a:extLst>
                <a:ext uri="{FF2B5EF4-FFF2-40B4-BE49-F238E27FC236}">
                  <a16:creationId xmlns:a16="http://schemas.microsoft.com/office/drawing/2014/main" id="{0FCB3904-5EB8-D182-3BCD-ED9BBFECAF67}"/>
                </a:ext>
              </a:extLst>
            </p:cNvPr>
            <p:cNvSpPr/>
            <p:nvPr/>
          </p:nvSpPr>
          <p:spPr>
            <a:xfrm>
              <a:off x="883861" y="4018599"/>
              <a:ext cx="857100" cy="432000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DOCX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순서도: 문서 9">
              <a:extLst>
                <a:ext uri="{FF2B5EF4-FFF2-40B4-BE49-F238E27FC236}">
                  <a16:creationId xmlns:a16="http://schemas.microsoft.com/office/drawing/2014/main" id="{833CD85F-B3B7-AD40-947B-BEB592C051DB}"/>
                </a:ext>
              </a:extLst>
            </p:cNvPr>
            <p:cNvSpPr/>
            <p:nvPr/>
          </p:nvSpPr>
          <p:spPr>
            <a:xfrm>
              <a:off x="883861" y="4538382"/>
              <a:ext cx="857100" cy="432000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MD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(markdown)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6A6F1FAE-E785-B329-5E8E-27E9F9302F42}"/>
                </a:ext>
              </a:extLst>
            </p:cNvPr>
            <p:cNvGrpSpPr/>
            <p:nvPr/>
          </p:nvGrpSpPr>
          <p:grpSpPr>
            <a:xfrm>
              <a:off x="520411" y="2271179"/>
              <a:ext cx="1584000" cy="2918998"/>
              <a:chOff x="2168834" y="2232425"/>
              <a:chExt cx="1360195" cy="2499859"/>
            </a:xfrm>
          </p:grpSpPr>
          <p:sp>
            <p:nvSpPr>
              <p:cNvPr id="153" name="사각형: 둥근 모서리 152">
                <a:extLst>
                  <a:ext uri="{FF2B5EF4-FFF2-40B4-BE49-F238E27FC236}">
                    <a16:creationId xmlns:a16="http://schemas.microsoft.com/office/drawing/2014/main" id="{970DCA43-442D-EA06-6E0F-939D1EBC851C}"/>
                  </a:ext>
                </a:extLst>
              </p:cNvPr>
              <p:cNvSpPr/>
              <p:nvPr/>
            </p:nvSpPr>
            <p:spPr>
              <a:xfrm>
                <a:off x="2168834" y="2232425"/>
                <a:ext cx="1360195" cy="2427859"/>
              </a:xfrm>
              <a:prstGeom prst="roundRect">
                <a:avLst>
                  <a:gd name="adj" fmla="val 5922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타원 153">
                <a:extLst>
                  <a:ext uri="{FF2B5EF4-FFF2-40B4-BE49-F238E27FC236}">
                    <a16:creationId xmlns:a16="http://schemas.microsoft.com/office/drawing/2014/main" id="{48E89463-B5E4-0FF1-2900-BCE4EF238FD3}"/>
                  </a:ext>
                </a:extLst>
              </p:cNvPr>
              <p:cNvSpPr/>
              <p:nvPr/>
            </p:nvSpPr>
            <p:spPr>
              <a:xfrm>
                <a:off x="2168834" y="4660284"/>
                <a:ext cx="72000" cy="7200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7" name="사각형: 둥근 모서리 156">
              <a:extLst>
                <a:ext uri="{FF2B5EF4-FFF2-40B4-BE49-F238E27FC236}">
                  <a16:creationId xmlns:a16="http://schemas.microsoft.com/office/drawing/2014/main" id="{31DB7221-C021-E3FC-AD87-00EED6CE2BB9}"/>
                </a:ext>
              </a:extLst>
            </p:cNvPr>
            <p:cNvSpPr/>
            <p:nvPr/>
          </p:nvSpPr>
          <p:spPr>
            <a:xfrm>
              <a:off x="638282" y="2434703"/>
              <a:ext cx="1348258" cy="4320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/>
                <a:t>Document File</a:t>
              </a:r>
              <a:endParaRPr lang="ko-KR" altLang="en-US" sz="1400" dirty="0"/>
            </a:p>
          </p:txBody>
        </p:sp>
      </p:grp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49BCF83F-28F0-1644-559E-2C3E0DC50457}"/>
              </a:ext>
            </a:extLst>
          </p:cNvPr>
          <p:cNvCxnSpPr>
            <a:cxnSpLocks/>
            <a:stCxn id="157" idx="3"/>
            <a:endCxn id="119" idx="1"/>
          </p:cNvCxnSpPr>
          <p:nvPr/>
        </p:nvCxnSpPr>
        <p:spPr>
          <a:xfrm>
            <a:off x="2739015" y="2536403"/>
            <a:ext cx="1151755" cy="0"/>
          </a:xfrm>
          <a:prstGeom prst="straightConnector1">
            <a:avLst/>
          </a:prstGeom>
          <a:ln w="38100">
            <a:solidFill>
              <a:srgbClr val="DD46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원통형 160">
            <a:extLst>
              <a:ext uri="{FF2B5EF4-FFF2-40B4-BE49-F238E27FC236}">
                <a16:creationId xmlns:a16="http://schemas.microsoft.com/office/drawing/2014/main" id="{2CD63D6E-EC6D-DB4D-0FBE-06B6AF4E24AA}"/>
              </a:ext>
            </a:extLst>
          </p:cNvPr>
          <p:cNvSpPr/>
          <p:nvPr/>
        </p:nvSpPr>
        <p:spPr>
          <a:xfrm>
            <a:off x="9738537" y="5459682"/>
            <a:ext cx="1296002" cy="7200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Vector DB</a:t>
            </a:r>
            <a:endParaRPr lang="ko-KR" altLang="en-US" sz="1600" b="1" dirty="0"/>
          </a:p>
        </p:txBody>
      </p:sp>
      <p:sp>
        <p:nvSpPr>
          <p:cNvPr id="173" name="화살표: 오른쪽 172">
            <a:extLst>
              <a:ext uri="{FF2B5EF4-FFF2-40B4-BE49-F238E27FC236}">
                <a16:creationId xmlns:a16="http://schemas.microsoft.com/office/drawing/2014/main" id="{A04B2B55-4DFD-45C3-4C69-1611452D51C8}"/>
              </a:ext>
            </a:extLst>
          </p:cNvPr>
          <p:cNvSpPr/>
          <p:nvPr/>
        </p:nvSpPr>
        <p:spPr>
          <a:xfrm>
            <a:off x="8699596" y="1553819"/>
            <a:ext cx="540000" cy="432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화살표: 오른쪽 173">
            <a:extLst>
              <a:ext uri="{FF2B5EF4-FFF2-40B4-BE49-F238E27FC236}">
                <a16:creationId xmlns:a16="http://schemas.microsoft.com/office/drawing/2014/main" id="{BD9C5F48-608B-AC7E-5672-BD8C78D281CC}"/>
              </a:ext>
            </a:extLst>
          </p:cNvPr>
          <p:cNvSpPr/>
          <p:nvPr/>
        </p:nvSpPr>
        <p:spPr>
          <a:xfrm>
            <a:off x="5865712" y="1553819"/>
            <a:ext cx="540000" cy="432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DF8AF5AF-EFF8-94F5-4102-6A080D0903D1}"/>
              </a:ext>
            </a:extLst>
          </p:cNvPr>
          <p:cNvGrpSpPr/>
          <p:nvPr/>
        </p:nvGrpSpPr>
        <p:grpSpPr>
          <a:xfrm>
            <a:off x="6580654" y="2156879"/>
            <a:ext cx="1944000" cy="2808000"/>
            <a:chOff x="6418729" y="2271179"/>
            <a:chExt cx="1944000" cy="2808000"/>
          </a:xfrm>
        </p:grpSpPr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AAF31436-BF9C-8020-EB1B-198F758B6294}"/>
                </a:ext>
              </a:extLst>
            </p:cNvPr>
            <p:cNvGrpSpPr/>
            <p:nvPr/>
          </p:nvGrpSpPr>
          <p:grpSpPr>
            <a:xfrm>
              <a:off x="6418729" y="2271179"/>
              <a:ext cx="1944000" cy="2808000"/>
              <a:chOff x="5582253" y="2271179"/>
              <a:chExt cx="1944000" cy="2808000"/>
            </a:xfrm>
          </p:grpSpPr>
          <p:sp>
            <p:nvSpPr>
              <p:cNvPr id="132" name="사각형: 둥근 모서리 131">
                <a:extLst>
                  <a:ext uri="{FF2B5EF4-FFF2-40B4-BE49-F238E27FC236}">
                    <a16:creationId xmlns:a16="http://schemas.microsoft.com/office/drawing/2014/main" id="{A8219F47-B391-72FB-4699-961C1786547D}"/>
                  </a:ext>
                </a:extLst>
              </p:cNvPr>
              <p:cNvSpPr/>
              <p:nvPr/>
            </p:nvSpPr>
            <p:spPr>
              <a:xfrm>
                <a:off x="5726253" y="2434703"/>
                <a:ext cx="1656000" cy="43200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1400" dirty="0"/>
                  <a:t>Chunk Builder</a:t>
                </a:r>
                <a:endParaRPr lang="ko-KR" altLang="en-US" sz="1400" dirty="0"/>
              </a:p>
            </p:txBody>
          </p:sp>
          <p:grpSp>
            <p:nvGrpSpPr>
              <p:cNvPr id="133" name="그룹 132">
                <a:extLst>
                  <a:ext uri="{FF2B5EF4-FFF2-40B4-BE49-F238E27FC236}">
                    <a16:creationId xmlns:a16="http://schemas.microsoft.com/office/drawing/2014/main" id="{CF33B2E6-92C3-FD38-8056-E019779CC384}"/>
                  </a:ext>
                </a:extLst>
              </p:cNvPr>
              <p:cNvGrpSpPr/>
              <p:nvPr/>
            </p:nvGrpSpPr>
            <p:grpSpPr>
              <a:xfrm>
                <a:off x="5582253" y="2271179"/>
                <a:ext cx="1944000" cy="2808000"/>
                <a:chOff x="2168834" y="2232425"/>
                <a:chExt cx="1656000" cy="2544843"/>
              </a:xfrm>
            </p:grpSpPr>
            <p:sp>
              <p:nvSpPr>
                <p:cNvPr id="134" name="사각형: 둥근 모서리 133">
                  <a:extLst>
                    <a:ext uri="{FF2B5EF4-FFF2-40B4-BE49-F238E27FC236}">
                      <a16:creationId xmlns:a16="http://schemas.microsoft.com/office/drawing/2014/main" id="{37E70C3E-EF03-EDD7-CBE3-2290D0F0CFE2}"/>
                    </a:ext>
                  </a:extLst>
                </p:cNvPr>
                <p:cNvSpPr/>
                <p:nvPr/>
              </p:nvSpPr>
              <p:spPr>
                <a:xfrm>
                  <a:off x="2168834" y="2232425"/>
                  <a:ext cx="1656000" cy="2544843"/>
                </a:xfrm>
                <a:prstGeom prst="roundRect">
                  <a:avLst>
                    <a:gd name="adj" fmla="val 5922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endParaRPr lang="ko-KR" alt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5" name="타원 134">
                  <a:extLst>
                    <a:ext uri="{FF2B5EF4-FFF2-40B4-BE49-F238E27FC236}">
                      <a16:creationId xmlns:a16="http://schemas.microsoft.com/office/drawing/2014/main" id="{DA1DC86A-9AD4-DCF8-7C97-2700C719C45D}"/>
                    </a:ext>
                  </a:extLst>
                </p:cNvPr>
                <p:cNvSpPr/>
                <p:nvPr/>
              </p:nvSpPr>
              <p:spPr>
                <a:xfrm>
                  <a:off x="2168834" y="4660284"/>
                  <a:ext cx="72000" cy="72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6A193EC6-2C2F-72BD-C0FB-BACEACE43049}"/>
                </a:ext>
              </a:extLst>
            </p:cNvPr>
            <p:cNvSpPr/>
            <p:nvPr/>
          </p:nvSpPr>
          <p:spPr>
            <a:xfrm>
              <a:off x="6742729" y="2977868"/>
              <a:ext cx="1296000" cy="5760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400" dirty="0">
                  <a:solidFill>
                    <a:schemeClr val="accent5">
                      <a:lumMod val="50000"/>
                    </a:schemeClr>
                  </a:solidFill>
                </a:rPr>
                <a:t>Chunk</a:t>
              </a:r>
              <a:r>
                <a:rPr lang="ko-KR" altLang="en-US" sz="1400" dirty="0">
                  <a:solidFill>
                    <a:schemeClr val="accent5">
                      <a:lumMod val="50000"/>
                    </a:schemeClr>
                  </a:solidFill>
                </a:rPr>
                <a:t> </a:t>
              </a:r>
              <a:r>
                <a:rPr lang="en-US" altLang="ko-KR" sz="1400" dirty="0">
                  <a:solidFill>
                    <a:schemeClr val="accent5">
                      <a:lumMod val="50000"/>
                    </a:schemeClr>
                  </a:solidFill>
                </a:rPr>
                <a:t>builder</a:t>
              </a:r>
            </a:p>
            <a:p>
              <a:pPr algn="ctr"/>
              <a:r>
                <a:rPr lang="en-US" altLang="ko-KR" sz="1200" dirty="0">
                  <a:solidFill>
                    <a:schemeClr val="accent5">
                      <a:lumMod val="50000"/>
                    </a:schemeClr>
                  </a:solidFill>
                </a:rPr>
                <a:t>(</a:t>
              </a:r>
              <a:r>
                <a:rPr lang="ko-KR" altLang="en-US" sz="1200" dirty="0">
                  <a:solidFill>
                    <a:schemeClr val="accent5">
                      <a:lumMod val="50000"/>
                    </a:schemeClr>
                  </a:solidFill>
                </a:rPr>
                <a:t>단일 모듈</a:t>
              </a:r>
              <a:r>
                <a:rPr lang="en-US" altLang="ko-KR" sz="1200" dirty="0">
                  <a:solidFill>
                    <a:schemeClr val="accent5">
                      <a:lumMod val="50000"/>
                    </a:schemeClr>
                  </a:solidFill>
                </a:rPr>
                <a:t>)</a:t>
              </a:r>
              <a:endParaRPr lang="ko-KR" altLang="en-US" sz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185" name="원통형 184">
            <a:extLst>
              <a:ext uri="{FF2B5EF4-FFF2-40B4-BE49-F238E27FC236}">
                <a16:creationId xmlns:a16="http://schemas.microsoft.com/office/drawing/2014/main" id="{E0C3691D-26A2-8EE7-19DB-9E6261DAE38E}"/>
              </a:ext>
            </a:extLst>
          </p:cNvPr>
          <p:cNvSpPr/>
          <p:nvPr/>
        </p:nvSpPr>
        <p:spPr>
          <a:xfrm>
            <a:off x="1524886" y="5459682"/>
            <a:ext cx="1080000" cy="720000"/>
          </a:xfrm>
          <a:prstGeom prst="can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</a:rPr>
              <a:t>File Server</a:t>
            </a:r>
            <a:endParaRPr lang="ko-KR" altLang="en-US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0B7F5AB9-EF80-8F27-D7A0-9F8C37BE2120}"/>
              </a:ext>
            </a:extLst>
          </p:cNvPr>
          <p:cNvCxnSpPr>
            <a:cxnSpLocks/>
            <a:stCxn id="153" idx="2"/>
            <a:endCxn id="185" idx="1"/>
          </p:cNvCxnSpPr>
          <p:nvPr/>
        </p:nvCxnSpPr>
        <p:spPr>
          <a:xfrm>
            <a:off x="2064886" y="4991805"/>
            <a:ext cx="0" cy="467877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61E1BDDD-7412-AA96-8AAC-7AE0D7728335}"/>
              </a:ext>
            </a:extLst>
          </p:cNvPr>
          <p:cNvCxnSpPr>
            <a:cxnSpLocks/>
            <a:stCxn id="138" idx="2"/>
            <a:endCxn id="161" idx="1"/>
          </p:cNvCxnSpPr>
          <p:nvPr/>
        </p:nvCxnSpPr>
        <p:spPr>
          <a:xfrm>
            <a:off x="10386538" y="4964879"/>
            <a:ext cx="0" cy="49480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연결선: 꺾임 199">
            <a:extLst>
              <a:ext uri="{FF2B5EF4-FFF2-40B4-BE49-F238E27FC236}">
                <a16:creationId xmlns:a16="http://schemas.microsoft.com/office/drawing/2014/main" id="{67ECE29C-B44C-00AC-B6B1-4575759DA93F}"/>
              </a:ext>
            </a:extLst>
          </p:cNvPr>
          <p:cNvCxnSpPr>
            <a:cxnSpLocks/>
            <a:stCxn id="45" idx="3"/>
            <a:endCxn id="178" idx="1"/>
          </p:cNvCxnSpPr>
          <p:nvPr/>
        </p:nvCxnSpPr>
        <p:spPr>
          <a:xfrm flipV="1">
            <a:off x="5294771" y="3151568"/>
            <a:ext cx="1609883" cy="2262127"/>
          </a:xfrm>
          <a:prstGeom prst="bentConnector3">
            <a:avLst>
              <a:gd name="adj1" fmla="val 5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97353EE4-CCB6-8D6C-006B-C2A9EAD2D628}"/>
              </a:ext>
            </a:extLst>
          </p:cNvPr>
          <p:cNvCxnSpPr>
            <a:cxnSpLocks/>
            <a:stCxn id="59" idx="1"/>
            <a:endCxn id="75" idx="3"/>
          </p:cNvCxnSpPr>
          <p:nvPr/>
        </p:nvCxnSpPr>
        <p:spPr>
          <a:xfrm flipH="1">
            <a:off x="5438770" y="5943730"/>
            <a:ext cx="391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AF0718AD-86D3-996F-D710-88EF352F37FA}"/>
              </a:ext>
            </a:extLst>
          </p:cNvPr>
          <p:cNvGrpSpPr/>
          <p:nvPr/>
        </p:nvGrpSpPr>
        <p:grpSpPr>
          <a:xfrm>
            <a:off x="3746772" y="5115504"/>
            <a:ext cx="1943998" cy="1152000"/>
            <a:chOff x="3403870" y="5115504"/>
            <a:chExt cx="1943998" cy="1152000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0F029C9-C0C4-D9ED-1073-549DE8F7203E}"/>
                </a:ext>
              </a:extLst>
            </p:cNvPr>
            <p:cNvSpPr/>
            <p:nvPr/>
          </p:nvSpPr>
          <p:spPr>
            <a:xfrm>
              <a:off x="3799869" y="5233695"/>
              <a:ext cx="1152000" cy="360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문서 별 목차</a:t>
              </a:r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F63E00F6-DFD0-0066-78EF-6E0FBABC2C2D}"/>
                </a:ext>
              </a:extLst>
            </p:cNvPr>
            <p:cNvSpPr/>
            <p:nvPr/>
          </p:nvSpPr>
          <p:spPr>
            <a:xfrm>
              <a:off x="3655870" y="5763730"/>
              <a:ext cx="1439998" cy="360000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Heading Parser</a:t>
              </a:r>
              <a:endParaRPr lang="ko-KR" altLang="en-US" sz="1400" dirty="0"/>
            </a:p>
          </p:txBody>
        </p:sp>
        <p:cxnSp>
          <p:nvCxnSpPr>
            <p:cNvPr id="86" name="연결선: 꺾임 50">
              <a:extLst>
                <a:ext uri="{FF2B5EF4-FFF2-40B4-BE49-F238E27FC236}">
                  <a16:creationId xmlns:a16="http://schemas.microsoft.com/office/drawing/2014/main" id="{E10F0F2D-0A8E-E0D9-3230-1EC5BA8B93EF}"/>
                </a:ext>
              </a:extLst>
            </p:cNvPr>
            <p:cNvCxnSpPr>
              <a:cxnSpLocks/>
              <a:stCxn id="75" idx="0"/>
              <a:endCxn id="45" idx="2"/>
            </p:cNvCxnSpPr>
            <p:nvPr/>
          </p:nvCxnSpPr>
          <p:spPr>
            <a:xfrm flipV="1">
              <a:off x="4375869" y="5593695"/>
              <a:ext cx="0" cy="17003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사각형: 둥근 모서리 203">
              <a:extLst>
                <a:ext uri="{FF2B5EF4-FFF2-40B4-BE49-F238E27FC236}">
                  <a16:creationId xmlns:a16="http://schemas.microsoft.com/office/drawing/2014/main" id="{800C553F-9EDF-585C-964F-E17B439D64D1}"/>
                </a:ext>
              </a:extLst>
            </p:cNvPr>
            <p:cNvSpPr/>
            <p:nvPr/>
          </p:nvSpPr>
          <p:spPr>
            <a:xfrm>
              <a:off x="3403870" y="5115504"/>
              <a:ext cx="1943998" cy="1152000"/>
            </a:xfrm>
            <a:prstGeom prst="roundRect">
              <a:avLst>
                <a:gd name="adj" fmla="val 5922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</a:endParaRPr>
            </a:p>
          </p:txBody>
        </p:sp>
      </p:grp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6E607855-DCC2-136A-58C2-A84D4EDBAEFA}"/>
              </a:ext>
            </a:extLst>
          </p:cNvPr>
          <p:cNvSpPr/>
          <p:nvPr/>
        </p:nvSpPr>
        <p:spPr>
          <a:xfrm>
            <a:off x="445232" y="5313260"/>
            <a:ext cx="936000" cy="432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사업공고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지자체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786847EC-1E0D-FFD7-A5DC-8EA7DE9B23F3}"/>
              </a:ext>
            </a:extLst>
          </p:cNvPr>
          <p:cNvSpPr/>
          <p:nvPr/>
        </p:nvSpPr>
        <p:spPr>
          <a:xfrm>
            <a:off x="445232" y="5835504"/>
            <a:ext cx="936000" cy="432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시행지침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중앙정부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FAB9E-7F03-CA27-F828-5A4823F0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D925AB1-ED8B-D71B-4A30-21BDFB82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7697522" cy="640080"/>
          </a:xfrm>
        </p:spPr>
        <p:txBody>
          <a:bodyPr rtlCol="0">
            <a:norm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RAG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Flow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–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New Project from RAG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0E8B57D-6217-BA37-E56D-5FD2062062CA}"/>
              </a:ext>
            </a:extLst>
          </p:cNvPr>
          <p:cNvSpPr/>
          <p:nvPr/>
        </p:nvSpPr>
        <p:spPr>
          <a:xfrm>
            <a:off x="396984" y="1496493"/>
            <a:ext cx="1296000" cy="68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600" dirty="0"/>
              <a:t>프로젝트 신규</a:t>
            </a:r>
          </a:p>
        </p:txBody>
      </p:sp>
      <p:sp>
        <p:nvSpPr>
          <p:cNvPr id="61" name="화살표: 오각형 60">
            <a:extLst>
              <a:ext uri="{FF2B5EF4-FFF2-40B4-BE49-F238E27FC236}">
                <a16:creationId xmlns:a16="http://schemas.microsoft.com/office/drawing/2014/main" id="{3C6BF2CD-60E4-C264-C006-038D9993F092}"/>
              </a:ext>
            </a:extLst>
          </p:cNvPr>
          <p:cNvSpPr/>
          <p:nvPr/>
        </p:nvSpPr>
        <p:spPr>
          <a:xfrm>
            <a:off x="1791411" y="1550493"/>
            <a:ext cx="2016000" cy="576000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사업공고문 선택</a:t>
            </a:r>
            <a:br>
              <a:rPr lang="en-US" altLang="ko-KR" sz="1600" dirty="0"/>
            </a:br>
            <a:r>
              <a:rPr lang="en-US" altLang="ko-KR" sz="1600" dirty="0"/>
              <a:t>(RAG </a:t>
            </a:r>
            <a:r>
              <a:rPr lang="ko-KR" altLang="en-US" sz="1600" dirty="0"/>
              <a:t>컬렉션 선택</a:t>
            </a:r>
            <a:r>
              <a:rPr lang="en-US" altLang="ko-KR" sz="1600" dirty="0"/>
              <a:t>)</a:t>
            </a:r>
          </a:p>
        </p:txBody>
      </p:sp>
      <p:sp>
        <p:nvSpPr>
          <p:cNvPr id="62" name="화살표: 오각형 61">
            <a:extLst>
              <a:ext uri="{FF2B5EF4-FFF2-40B4-BE49-F238E27FC236}">
                <a16:creationId xmlns:a16="http://schemas.microsoft.com/office/drawing/2014/main" id="{087DCE74-1373-6FCD-A3AC-995F5CDA2780}"/>
              </a:ext>
            </a:extLst>
          </p:cNvPr>
          <p:cNvSpPr/>
          <p:nvPr/>
        </p:nvSpPr>
        <p:spPr>
          <a:xfrm>
            <a:off x="4390049" y="1550493"/>
            <a:ext cx="2016000" cy="576000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프로젝트 </a:t>
            </a:r>
            <a:endParaRPr lang="en-US" altLang="ko-KR" sz="1600" dirty="0"/>
          </a:p>
          <a:p>
            <a:pPr algn="ctr"/>
            <a:r>
              <a:rPr lang="ko-KR" altLang="en-US" sz="1600" dirty="0"/>
              <a:t>기본정보 등록</a:t>
            </a:r>
            <a:endParaRPr lang="en-US" altLang="ko-KR" sz="1600" dirty="0"/>
          </a:p>
        </p:txBody>
      </p:sp>
      <p:sp>
        <p:nvSpPr>
          <p:cNvPr id="63" name="화살표: 오각형 62">
            <a:extLst>
              <a:ext uri="{FF2B5EF4-FFF2-40B4-BE49-F238E27FC236}">
                <a16:creationId xmlns:a16="http://schemas.microsoft.com/office/drawing/2014/main" id="{3E6C30BC-F377-0943-09D9-B6D12156B39B}"/>
              </a:ext>
            </a:extLst>
          </p:cNvPr>
          <p:cNvSpPr/>
          <p:nvPr/>
        </p:nvSpPr>
        <p:spPr>
          <a:xfrm>
            <a:off x="6988687" y="1550493"/>
            <a:ext cx="2016000" cy="576000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대상 활동 등록</a:t>
            </a:r>
            <a:endParaRPr lang="en-US" altLang="ko-KR" sz="1600" dirty="0"/>
          </a:p>
        </p:txBody>
      </p:sp>
      <p:sp>
        <p:nvSpPr>
          <p:cNvPr id="64" name="화살표: 오각형 63">
            <a:extLst>
              <a:ext uri="{FF2B5EF4-FFF2-40B4-BE49-F238E27FC236}">
                <a16:creationId xmlns:a16="http://schemas.microsoft.com/office/drawing/2014/main" id="{A4E53960-C253-2D77-A5CF-9DE62C2AA873}"/>
              </a:ext>
            </a:extLst>
          </p:cNvPr>
          <p:cNvSpPr/>
          <p:nvPr/>
        </p:nvSpPr>
        <p:spPr>
          <a:xfrm>
            <a:off x="9587326" y="1550493"/>
            <a:ext cx="2016000" cy="576000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활동별 작업 등록</a:t>
            </a:r>
            <a:endParaRPr lang="en-US" altLang="ko-KR" sz="1600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2DCDE70-9AE1-863B-7293-B77F4E2FF420}"/>
              </a:ext>
            </a:extLst>
          </p:cNvPr>
          <p:cNvGrpSpPr/>
          <p:nvPr/>
        </p:nvGrpSpPr>
        <p:grpSpPr>
          <a:xfrm>
            <a:off x="1528824" y="2919418"/>
            <a:ext cx="2265094" cy="2933223"/>
            <a:chOff x="1647410" y="2573814"/>
            <a:chExt cx="2265094" cy="293322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4F2EF75-72BA-74E2-3FD0-3A8D39A5B4AD}"/>
                </a:ext>
              </a:extLst>
            </p:cNvPr>
            <p:cNvSpPr/>
            <p:nvPr/>
          </p:nvSpPr>
          <p:spPr>
            <a:xfrm>
              <a:off x="1815954" y="2573814"/>
              <a:ext cx="2016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청크</a:t>
              </a:r>
              <a:r>
                <a:rPr lang="ko-KR" altLang="en-US" sz="1600" dirty="0">
                  <a:solidFill>
                    <a:schemeClr val="tx1"/>
                  </a:solidFill>
                </a:rPr>
                <a:t> 별 메타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7D45553-516E-057E-5791-735842323D9A}"/>
                </a:ext>
              </a:extLst>
            </p:cNvPr>
            <p:cNvSpPr txBox="1"/>
            <p:nvPr/>
          </p:nvSpPr>
          <p:spPr>
            <a:xfrm>
              <a:off x="1791411" y="2952209"/>
              <a:ext cx="212109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- </a:t>
              </a:r>
              <a:r>
                <a:rPr lang="ko-KR" altLang="en-US" sz="1400" dirty="0"/>
                <a:t>해당 </a:t>
              </a:r>
              <a:r>
                <a:rPr lang="ko-KR" altLang="en-US" sz="1400" dirty="0" err="1"/>
                <a:t>청크</a:t>
              </a:r>
              <a:r>
                <a:rPr lang="ko-KR" altLang="en-US" sz="1400" dirty="0"/>
                <a:t> 목차</a:t>
              </a:r>
              <a:endParaRPr lang="en-US" altLang="ko-KR" sz="1400" dirty="0"/>
            </a:p>
            <a:p>
              <a:r>
                <a:rPr lang="en-US" altLang="ko-KR" sz="1400" dirty="0"/>
                <a:t>- </a:t>
              </a:r>
              <a:r>
                <a:rPr lang="ko-KR" altLang="en-US" sz="1400" dirty="0"/>
                <a:t>문단 구분 </a:t>
              </a:r>
              <a:r>
                <a:rPr lang="en-US" altLang="ko-KR" sz="1400" dirty="0"/>
                <a:t>:</a:t>
              </a:r>
              <a:r>
                <a:rPr lang="ko-KR" altLang="en-US" sz="1400" dirty="0"/>
                <a:t> 목차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문단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표</a:t>
              </a:r>
              <a:endParaRPr lang="en-US" altLang="ko-KR" sz="1400" dirty="0"/>
            </a:p>
            <a:p>
              <a:r>
                <a:rPr lang="en-US" altLang="ko-KR" sz="1400" dirty="0"/>
                <a:t>- </a:t>
              </a:r>
              <a:r>
                <a:rPr lang="ko-KR" altLang="en-US" sz="1400" dirty="0"/>
                <a:t>표 정보 </a:t>
              </a:r>
              <a:r>
                <a:rPr lang="en-US" altLang="ko-KR" sz="1400" dirty="0"/>
                <a:t>: </a:t>
              </a:r>
              <a:r>
                <a:rPr lang="ko-KR" altLang="en-US" sz="1400" dirty="0"/>
                <a:t>사이즈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헤더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6F53F13-414D-C0CC-5B47-4C741C893941}"/>
                </a:ext>
              </a:extLst>
            </p:cNvPr>
            <p:cNvSpPr/>
            <p:nvPr/>
          </p:nvSpPr>
          <p:spPr>
            <a:xfrm>
              <a:off x="1815954" y="3760469"/>
              <a:ext cx="2016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청크</a:t>
              </a:r>
              <a:r>
                <a:rPr lang="ko-KR" altLang="en-US" sz="1600" dirty="0">
                  <a:solidFill>
                    <a:schemeClr val="tx1"/>
                  </a:solidFill>
                </a:rPr>
                <a:t> 별 벡터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DC2FF8-B069-BB40-36C8-2093E8D4BF44}"/>
                </a:ext>
              </a:extLst>
            </p:cNvPr>
            <p:cNvSpPr txBox="1"/>
            <p:nvPr/>
          </p:nvSpPr>
          <p:spPr>
            <a:xfrm>
              <a:off x="1796320" y="4129994"/>
              <a:ext cx="16946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- N</a:t>
              </a:r>
              <a:r>
                <a:rPr lang="ko-KR" altLang="en-US" sz="1400" dirty="0"/>
                <a:t>차원 벡터 </a:t>
              </a:r>
              <a:r>
                <a:rPr lang="en-US" altLang="ko-KR" sz="1400" dirty="0"/>
                <a:t>(1536)</a:t>
              </a:r>
            </a:p>
            <a:p>
              <a:r>
                <a:rPr lang="en-US" altLang="ko-KR" sz="1400" dirty="0"/>
                <a:t>- </a:t>
              </a:r>
              <a:r>
                <a:rPr lang="ko-KR" altLang="en-US" sz="1400" dirty="0"/>
                <a:t>유사도 검색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CE346AD-4E33-4CB9-9D20-819D92CE15A1}"/>
                </a:ext>
              </a:extLst>
            </p:cNvPr>
            <p:cNvSpPr/>
            <p:nvPr/>
          </p:nvSpPr>
          <p:spPr>
            <a:xfrm>
              <a:off x="1815954" y="4769473"/>
              <a:ext cx="2016000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청크</a:t>
              </a:r>
              <a:r>
                <a:rPr lang="ko-KR" altLang="en-US" sz="1600" dirty="0">
                  <a:solidFill>
                    <a:schemeClr val="tx1"/>
                  </a:solidFill>
                </a:rPr>
                <a:t> 별 </a:t>
              </a:r>
              <a:r>
                <a:rPr lang="en-US" altLang="ko-KR" sz="1600" dirty="0">
                  <a:solidFill>
                    <a:schemeClr val="tx1"/>
                  </a:solidFill>
                </a:rPr>
                <a:t>TEXT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DDB5C9E-C490-A1A1-3B8C-08F46BACDB72}"/>
                </a:ext>
              </a:extLst>
            </p:cNvPr>
            <p:cNvSpPr txBox="1"/>
            <p:nvPr/>
          </p:nvSpPr>
          <p:spPr>
            <a:xfrm>
              <a:off x="1791411" y="5149783"/>
              <a:ext cx="10166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- </a:t>
              </a:r>
              <a:r>
                <a:rPr lang="ko-KR" altLang="en-US" sz="1400" dirty="0"/>
                <a:t>문서 내용</a:t>
              </a:r>
              <a:endParaRPr lang="en-US" altLang="ko-KR" sz="1400" dirty="0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6935709E-1C29-BBDB-96FF-4EDF25B4B619}"/>
                </a:ext>
              </a:extLst>
            </p:cNvPr>
            <p:cNvSpPr/>
            <p:nvPr/>
          </p:nvSpPr>
          <p:spPr>
            <a:xfrm>
              <a:off x="1647410" y="5418107"/>
              <a:ext cx="102308" cy="8893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73E3FD81-F08F-EE49-07FB-DB78E9DA0F8F}"/>
              </a:ext>
            </a:extLst>
          </p:cNvPr>
          <p:cNvSpPr txBox="1"/>
          <p:nvPr/>
        </p:nvSpPr>
        <p:spPr>
          <a:xfrm>
            <a:off x="4367342" y="2981633"/>
            <a:ext cx="1909744" cy="71903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프로젝트 명칭 </a:t>
            </a:r>
            <a:r>
              <a:rPr lang="en-US" altLang="ko-KR" sz="1400" dirty="0"/>
              <a:t>/ ID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발주기관</a:t>
            </a:r>
            <a:r>
              <a:rPr lang="en-US" altLang="ko-KR" sz="1400" dirty="0"/>
              <a:t>     - </a:t>
            </a:r>
            <a:r>
              <a:rPr lang="ko-KR" altLang="en-US" sz="1400" dirty="0"/>
              <a:t>공고일자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시행연도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5284B0B-EDD6-5EFB-41D8-B61B2A5DEED2}"/>
              </a:ext>
            </a:extLst>
          </p:cNvPr>
          <p:cNvSpPr/>
          <p:nvPr/>
        </p:nvSpPr>
        <p:spPr>
          <a:xfrm>
            <a:off x="4369968" y="2559418"/>
            <a:ext cx="2016000" cy="3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기본정보</a:t>
            </a:r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제안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D9692B4B-1764-B370-55E8-C8317B419233}"/>
              </a:ext>
            </a:extLst>
          </p:cNvPr>
          <p:cNvSpPr/>
          <p:nvPr/>
        </p:nvSpPr>
        <p:spPr>
          <a:xfrm>
            <a:off x="6988687" y="2559418"/>
            <a:ext cx="2016000" cy="3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활동 목록 제안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EBDBC39-D96E-ABFE-9A3F-7719820ED98D}"/>
              </a:ext>
            </a:extLst>
          </p:cNvPr>
          <p:cNvSpPr/>
          <p:nvPr/>
        </p:nvSpPr>
        <p:spPr>
          <a:xfrm>
            <a:off x="6988687" y="4360074"/>
            <a:ext cx="2016000" cy="3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활동 상세정보 제안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C5E8755-6369-0F10-EBBB-BF552AF73AED}"/>
              </a:ext>
            </a:extLst>
          </p:cNvPr>
          <p:cNvSpPr txBox="1"/>
          <p:nvPr/>
        </p:nvSpPr>
        <p:spPr>
          <a:xfrm>
            <a:off x="6988687" y="4810714"/>
            <a:ext cx="1869670" cy="73866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순번           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활동명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예상일자 </a:t>
            </a:r>
            <a:r>
              <a:rPr lang="en-US" altLang="ko-KR" sz="1400" dirty="0"/>
              <a:t>(</a:t>
            </a:r>
            <a:r>
              <a:rPr lang="ko-KR" altLang="en-US" sz="1400" dirty="0"/>
              <a:t>시작</a:t>
            </a:r>
            <a:r>
              <a:rPr lang="en-US" altLang="ko-KR" sz="1400" dirty="0"/>
              <a:t>/</a:t>
            </a:r>
            <a:r>
              <a:rPr lang="ko-KR" altLang="en-US" sz="1400" dirty="0"/>
              <a:t>종료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활동비        </a:t>
            </a:r>
            <a:r>
              <a:rPr lang="en-US" altLang="ko-KR" sz="1400" dirty="0"/>
              <a:t>- </a:t>
            </a:r>
            <a:r>
              <a:rPr lang="ko-KR" altLang="en-US" sz="1400" dirty="0"/>
              <a:t>대상농지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A7D10B-A76D-1773-71EC-093376D045C9}"/>
              </a:ext>
            </a:extLst>
          </p:cNvPr>
          <p:cNvSpPr txBox="1"/>
          <p:nvPr/>
        </p:nvSpPr>
        <p:spPr>
          <a:xfrm>
            <a:off x="6988688" y="2981633"/>
            <a:ext cx="2016000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활동 목록 </a:t>
            </a:r>
            <a:endParaRPr lang="en-US" altLang="ko-KR" sz="1400" dirty="0"/>
          </a:p>
        </p:txBody>
      </p:sp>
      <p:sp>
        <p:nvSpPr>
          <p:cNvPr id="8" name="원통형 7">
            <a:extLst>
              <a:ext uri="{FF2B5EF4-FFF2-40B4-BE49-F238E27FC236}">
                <a16:creationId xmlns:a16="http://schemas.microsoft.com/office/drawing/2014/main" id="{74D5AAB0-4D22-4420-192D-A3C0D1EE2D76}"/>
              </a:ext>
            </a:extLst>
          </p:cNvPr>
          <p:cNvSpPr/>
          <p:nvPr/>
        </p:nvSpPr>
        <p:spPr>
          <a:xfrm>
            <a:off x="1473371" y="2425690"/>
            <a:ext cx="2376000" cy="3636000"/>
          </a:xfrm>
          <a:prstGeom prst="can">
            <a:avLst>
              <a:gd name="adj" fmla="val 153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F4D785-D042-FB60-47B7-454298F01753}"/>
              </a:ext>
            </a:extLst>
          </p:cNvPr>
          <p:cNvSpPr/>
          <p:nvPr/>
        </p:nvSpPr>
        <p:spPr>
          <a:xfrm>
            <a:off x="4411029" y="4360074"/>
            <a:ext cx="2016000" cy="360000"/>
          </a:xfrm>
          <a:prstGeom prst="roundRect">
            <a:avLst>
              <a:gd name="adj" fmla="val 4258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제안 수락 또는 변경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8911574-5221-175D-6C05-938D2D8ADFF7}"/>
              </a:ext>
            </a:extLst>
          </p:cNvPr>
          <p:cNvSpPr/>
          <p:nvPr/>
        </p:nvSpPr>
        <p:spPr>
          <a:xfrm>
            <a:off x="6988687" y="3487145"/>
            <a:ext cx="2016000" cy="360000"/>
          </a:xfrm>
          <a:prstGeom prst="roundRect">
            <a:avLst>
              <a:gd name="adj" fmla="val 4258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대상 활동 선택</a:t>
            </a:r>
            <a:r>
              <a:rPr lang="en-US" altLang="ko-KR" sz="1600" dirty="0">
                <a:solidFill>
                  <a:schemeClr val="tx1"/>
                </a:solidFill>
              </a:rPr>
              <a:t>/</a:t>
            </a:r>
            <a:r>
              <a:rPr lang="ko-KR" altLang="en-US" sz="16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997C538-6A6F-E382-B7C8-150F886848F2}"/>
              </a:ext>
            </a:extLst>
          </p:cNvPr>
          <p:cNvSpPr/>
          <p:nvPr/>
        </p:nvSpPr>
        <p:spPr>
          <a:xfrm>
            <a:off x="6988687" y="5852641"/>
            <a:ext cx="2016000" cy="360000"/>
          </a:xfrm>
          <a:prstGeom prst="roundRect">
            <a:avLst>
              <a:gd name="adj" fmla="val 4258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확인</a:t>
            </a:r>
            <a:r>
              <a:rPr lang="en-US" altLang="ko-KR" sz="1600" dirty="0">
                <a:solidFill>
                  <a:schemeClr val="tx1"/>
                </a:solidFill>
              </a:rPr>
              <a:t>/</a:t>
            </a:r>
            <a:r>
              <a:rPr lang="ko-KR" altLang="en-US" sz="1600" dirty="0">
                <a:solidFill>
                  <a:schemeClr val="tx1"/>
                </a:solidFill>
              </a:rPr>
              <a:t>수정 및 등록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3821F3-2B7F-973C-FB52-CFF9C6655616}"/>
              </a:ext>
            </a:extLst>
          </p:cNvPr>
          <p:cNvSpPr/>
          <p:nvPr/>
        </p:nvSpPr>
        <p:spPr>
          <a:xfrm>
            <a:off x="9607406" y="2559418"/>
            <a:ext cx="2016000" cy="3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작업 상세정보 제안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FC5543-08EE-61DB-B12C-A3B699CB11F5}"/>
              </a:ext>
            </a:extLst>
          </p:cNvPr>
          <p:cNvSpPr txBox="1"/>
          <p:nvPr/>
        </p:nvSpPr>
        <p:spPr>
          <a:xfrm>
            <a:off x="9607406" y="2981633"/>
            <a:ext cx="2132562" cy="114992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반복횟수       </a:t>
            </a:r>
            <a:r>
              <a:rPr lang="en-US" altLang="ko-KR" sz="1400" dirty="0"/>
              <a:t>- </a:t>
            </a:r>
            <a:r>
              <a:rPr lang="ko-KR" altLang="en-US" sz="1400" dirty="0"/>
              <a:t>대상 작업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 err="1"/>
              <a:t>회차별</a:t>
            </a:r>
            <a:r>
              <a:rPr lang="ko-KR" altLang="en-US" sz="1400" dirty="0"/>
              <a:t> 정보</a:t>
            </a:r>
            <a:br>
              <a:rPr lang="en-US" altLang="ko-KR" sz="1400" dirty="0"/>
            </a:br>
            <a:r>
              <a:rPr lang="en-US" altLang="ko-KR" sz="1400" dirty="0"/>
              <a:t>   . </a:t>
            </a:r>
            <a:r>
              <a:rPr lang="ko-KR" altLang="en-US" sz="1400" dirty="0"/>
              <a:t>실행시점     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선후행작업</a:t>
            </a:r>
            <a:endParaRPr lang="en-US" altLang="ko-KR" sz="1400" dirty="0"/>
          </a:p>
          <a:p>
            <a:r>
              <a:rPr lang="en-US" altLang="ko-KR" sz="1400" dirty="0"/>
              <a:t>   . </a:t>
            </a:r>
            <a:r>
              <a:rPr lang="ko-KR" altLang="en-US" sz="1400" dirty="0"/>
              <a:t>예상 시작일</a:t>
            </a:r>
            <a:r>
              <a:rPr lang="en-US" altLang="ko-KR" sz="1400" dirty="0"/>
              <a:t>/</a:t>
            </a:r>
            <a:r>
              <a:rPr lang="ko-KR" altLang="en-US" sz="1400" dirty="0"/>
              <a:t>종료일</a:t>
            </a:r>
            <a:endParaRPr lang="en-US" altLang="ko-KR" sz="1400" dirty="0"/>
          </a:p>
          <a:p>
            <a:r>
              <a:rPr lang="en-US" altLang="ko-KR" sz="1400" dirty="0"/>
              <a:t>   . </a:t>
            </a:r>
            <a:r>
              <a:rPr lang="ko-KR" altLang="en-US" sz="1400" dirty="0"/>
              <a:t>시작</a:t>
            </a:r>
            <a:r>
              <a:rPr lang="en-US" altLang="ko-KR" sz="1400" dirty="0"/>
              <a:t>/</a:t>
            </a:r>
            <a:r>
              <a:rPr lang="ko-KR" altLang="en-US" sz="1400" dirty="0"/>
              <a:t>종료 규칙</a:t>
            </a:r>
            <a:endParaRPr lang="en-US" altLang="ko-KR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0074739-1DA6-DFE2-5CD2-D019653E0928}"/>
              </a:ext>
            </a:extLst>
          </p:cNvPr>
          <p:cNvSpPr/>
          <p:nvPr/>
        </p:nvSpPr>
        <p:spPr>
          <a:xfrm>
            <a:off x="9665687" y="4360074"/>
            <a:ext cx="2016000" cy="360000"/>
          </a:xfrm>
          <a:prstGeom prst="roundRect">
            <a:avLst>
              <a:gd name="adj" fmla="val 4258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확인</a:t>
            </a:r>
            <a:r>
              <a:rPr lang="en-US" altLang="ko-KR" sz="1600" dirty="0">
                <a:solidFill>
                  <a:schemeClr val="tx1"/>
                </a:solidFill>
              </a:rPr>
              <a:t>/</a:t>
            </a:r>
            <a:r>
              <a:rPr lang="ko-KR" altLang="en-US" sz="1600" dirty="0">
                <a:solidFill>
                  <a:schemeClr val="tx1"/>
                </a:solidFill>
              </a:rPr>
              <a:t>수정 및 등록 </a:t>
            </a:r>
          </a:p>
        </p:txBody>
      </p:sp>
    </p:spTree>
    <p:extLst>
      <p:ext uri="{BB962C8B-B14F-4D97-AF65-F5344CB8AC3E}">
        <p14:creationId xmlns:p14="http://schemas.microsoft.com/office/powerpoint/2010/main" val="285974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{6C359233-2237-439B-873F-BD2FAFE8BED4}TF2989475c-5427-4edb-9ec1-00f4ce72165be756b0ce_win32-2ff1dad8fff0</Template>
  <TotalTime>826</TotalTime>
  <Words>404</Words>
  <Application>Microsoft Office PowerPoint</Application>
  <PresentationFormat>와이드스크린</PresentationFormat>
  <Paragraphs>161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Segoe UI Light</vt:lpstr>
      <vt:lpstr>WelcomeDoc</vt:lpstr>
      <vt:lpstr>Locaville IT Architecture</vt:lpstr>
      <vt:lpstr>Business Flow</vt:lpstr>
      <vt:lpstr>Data Flow</vt:lpstr>
      <vt:lpstr>Application Flow - From Frontend to Backend</vt:lpstr>
      <vt:lpstr>RAG Flow - From File to RAG Vector</vt:lpstr>
      <vt:lpstr>RAG Flow – New Project from RAG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keywords/>
  <cp:lastModifiedBy>Admin</cp:lastModifiedBy>
  <cp:revision>12</cp:revision>
  <dcterms:created xsi:type="dcterms:W3CDTF">2026-06-16T01:10:04Z</dcterms:created>
  <dcterms:modified xsi:type="dcterms:W3CDTF">2026-06-19T08:26:22Z</dcterms:modified>
  <cp:version/>
</cp:coreProperties>
</file>